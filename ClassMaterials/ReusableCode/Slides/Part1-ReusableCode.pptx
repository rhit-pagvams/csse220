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51" r:id="rId1"/>
  </p:sldMasterIdLst>
  <p:notesMasterIdLst>
    <p:notesMasterId r:id="rId8"/>
  </p:notesMasterIdLst>
  <p:handoutMasterIdLst>
    <p:handoutMasterId r:id="rId9"/>
  </p:handout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clrMru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0" autoAdjust="0"/>
    <p:restoredTop sz="79903" autoAdjust="0"/>
  </p:normalViewPr>
  <p:slideViewPr>
    <p:cSldViewPr snapToObjects="1">
      <p:cViewPr varScale="1">
        <p:scale>
          <a:sx n="88" d="100"/>
          <a:sy n="88" d="100"/>
        </p:scale>
        <p:origin x="227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2" y="61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6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56F0E282-F520-4063-AA13-505E6370645A}"/>
    <pc:docChg chg="delSld modSld">
      <pc:chgData name="Yoder, Jason" userId="28f4d4d8-da04-4f86-b14d-a21675737bc5" providerId="ADAL" clId="{56F0E282-F520-4063-AA13-505E6370645A}" dt="2023-11-21T17:21:30.725" v="38" actId="6549"/>
      <pc:docMkLst>
        <pc:docMk/>
      </pc:docMkLst>
      <pc:sldChg chg="modSp mod">
        <pc:chgData name="Yoder, Jason" userId="28f4d4d8-da04-4f86-b14d-a21675737bc5" providerId="ADAL" clId="{56F0E282-F520-4063-AA13-505E6370645A}" dt="2023-11-21T17:21:30.725" v="38" actId="6549"/>
        <pc:sldMkLst>
          <pc:docMk/>
          <pc:sldMk cId="882571428" sldId="256"/>
        </pc:sldMkLst>
        <pc:spChg chg="mod">
          <ac:chgData name="Yoder, Jason" userId="28f4d4d8-da04-4f86-b14d-a21675737bc5" providerId="ADAL" clId="{56F0E282-F520-4063-AA13-505E6370645A}" dt="2023-11-21T17:21:30.725" v="38" actId="6549"/>
          <ac:spMkLst>
            <pc:docMk/>
            <pc:sldMk cId="882571428" sldId="256"/>
            <ac:spMk id="6" creationId="{8E144597-0C3F-8647-9855-D313BCD0C06D}"/>
          </ac:spMkLst>
        </pc:spChg>
      </pc:sldChg>
      <pc:sldChg chg="del">
        <pc:chgData name="Yoder, Jason" userId="28f4d4d8-da04-4f86-b14d-a21675737bc5" providerId="ADAL" clId="{56F0E282-F520-4063-AA13-505E6370645A}" dt="2023-11-20T22:39:09.165" v="0" actId="2696"/>
        <pc:sldMkLst>
          <pc:docMk/>
          <pc:sldMk cId="2497485262" sldId="30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6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085A868C-5F9A-4350-9ECA-8A39CF4A3D12}" type="datetimeFigureOut">
              <a:rPr lang="en-US"/>
              <a:pPr>
                <a:defRPr/>
              </a:pPr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6" y="8829121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D9C3BF8C-1241-40D3-840C-9DB1996F1F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776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4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1FE7019-A90C-4050-B719-4A68C7DA50DA}" type="datetimeFigureOut">
              <a:rPr lang="en-US"/>
              <a:pPr>
                <a:defRPr/>
              </a:pPr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08" tIns="44904" rIns="89808" bIns="4490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8"/>
            <a:ext cx="5607711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4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F6B6C2D-0897-4206-AD94-4D1FCFA821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261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16130" indent="-275434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0173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42433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83128" indent="-220348" defTabSz="91352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2382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451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05213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45908" indent="-220348" defTabSz="913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57C2531-A210-478B-AE7B-0212C677C8EA}" type="slidenum">
              <a:rPr lang="en-US" smtClean="0">
                <a:latin typeface="Calibri" pitchFamily="34" charset="0"/>
              </a:rPr>
              <a:pPr eaLnBrk="1" hangingPunct="1"/>
              <a:t>1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18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6B6C2D-0897-4206-AD94-4D1FCFA8210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04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run this as a think-pair-share, or a Slido word cloud</a:t>
            </a:r>
          </a:p>
          <a:p>
            <a:endParaRPr lang="en-US" dirty="0"/>
          </a:p>
          <a:p>
            <a:r>
              <a:rPr lang="en-US" dirty="0"/>
              <a:t>Possible responses: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Copy/paste code snippets/functions from old project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Make a “utility functions” class that you copy/paste into new projects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Create a library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Discuss pros/cons of these options, especially code duplication.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6B6C2D-0897-4206-AD94-4D1FCFA8210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43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E1CDAB-06C9-40FD-942C-F3B53D39BF85}" type="datetime2">
              <a:rPr lang="en-US" smtClean="0"/>
              <a:pPr>
                <a:defRPr/>
              </a:pPr>
              <a:t>Saturday, October 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72FF0E-F7CC-423F-8650-0BF22C4BBB5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9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D3E589-0D28-44C0-B64C-3A4AC08A04E1}" type="datetime2">
              <a:rPr lang="en-US" smtClean="0"/>
              <a:pPr>
                <a:defRPr/>
              </a:pPr>
              <a:t>Saturday, October 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4DD41-CB1A-4D81-89B8-69AA3F5B23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2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77DD9B-8088-4898-8095-D1C7B8FC4098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1100CF-6167-4269-ADF1-5F008C1E6A8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78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B28098-CE10-4B64-A588-F5A095E20C2D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9AA02C-252F-4AAD-B601-753D798BCD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9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5F90AB-0501-4A31-AD4B-812B09D8C90F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075F12-196C-4B2B-BFEA-A10E463558F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6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25D488-160D-4C5A-81C6-5291B6307D3A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99FF9E-F6EF-45CC-9DB6-FA60CEEE9D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442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EC46C2-FFF1-4A78-BBF5-7A21C8E4AF1C}" type="datetime2">
              <a:rPr lang="en-US" smtClean="0"/>
              <a:pPr>
                <a:defRPr/>
              </a:pPr>
              <a:t>Saturday, October 3,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22176-7577-4261-BE2D-E01E397F8B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88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2CD4BA-40BD-4350-9A50-2C1CA443D35A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1F173-A11D-460A-9C31-47F8745582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89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8AF244-3622-4EBC-8264-425B1DE9CF1B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F16A68-FBA6-48BB-919E-87260CD8C19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79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7FEF9A-ADC5-4920-917D-E7BB6FF08CF8}" type="datetime2">
              <a:rPr lang="en-US" smtClean="0"/>
              <a:pPr>
                <a:defRPr/>
              </a:pPr>
              <a:t>Saturday, October 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8AF770-2A39-4776-8FC7-0C11FB6FDD6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73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598137-AD29-4AF9-9DB3-CB53ECB1D517}" type="datetime2">
              <a:rPr lang="en-US" smtClean="0"/>
              <a:pPr>
                <a:defRPr/>
              </a:pPr>
              <a:t>Saturday, October 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50F0C6-27C3-4B05-9DC9-0251E117CF3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28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2F7C74-FEF3-4B67-B647-B5A95651068A}" type="datetime2">
              <a:rPr lang="en-US" smtClean="0"/>
              <a:pPr>
                <a:defRPr/>
              </a:pPr>
              <a:t>Saturday, October 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D2C1B5E-D6BE-42AF-8DDF-5C2B46E615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69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2" r:id="rId1"/>
    <p:sldLayoutId id="2147484253" r:id="rId2"/>
    <p:sldLayoutId id="2147484254" r:id="rId3"/>
    <p:sldLayoutId id="2147484255" r:id="rId4"/>
    <p:sldLayoutId id="2147484256" r:id="rId5"/>
    <p:sldLayoutId id="2147484257" r:id="rId6"/>
    <p:sldLayoutId id="2147484258" r:id="rId7"/>
    <p:sldLayoutId id="2147484259" r:id="rId8"/>
    <p:sldLayoutId id="2147484260" r:id="rId9"/>
    <p:sldLayoutId id="2147484261" r:id="rId10"/>
    <p:sldLayoutId id="214748426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Grandview Display" panose="020B0502040204020203" pitchFamily="34" charset="0"/>
              </a:rPr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>
          <a:xfrm>
            <a:off x="1371600" y="3693298"/>
            <a:ext cx="6400800" cy="1752600"/>
          </a:xfrm>
        </p:spPr>
        <p:txBody>
          <a:bodyPr>
            <a:normAutofit/>
          </a:bodyPr>
          <a:lstStyle/>
          <a:p>
            <a:pPr marR="0" eaLnBrk="1" hangingPunct="1">
              <a:lnSpc>
                <a:spcPct val="90000"/>
              </a:lnSpc>
            </a:pPr>
            <a:r>
              <a:rPr lang="en-US" dirty="0" err="1">
                <a:latin typeface="Grandview" panose="020B0502040204020203" pitchFamily="34" charset="0"/>
              </a:rPr>
              <a:t>ReusableCode</a:t>
            </a:r>
            <a:endParaRPr lang="en-US" dirty="0">
              <a:latin typeface="Grandview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144597-0C3F-8647-9855-D313BCD0C06D}"/>
              </a:ext>
            </a:extLst>
          </p:cNvPr>
          <p:cNvSpPr/>
          <p:nvPr/>
        </p:nvSpPr>
        <p:spPr>
          <a:xfrm>
            <a:off x="381000" y="4569598"/>
            <a:ext cx="8534400" cy="205980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FFFF"/>
                </a:solidFill>
                <a:latin typeface="Grandview" panose="020B0502040204020203" pitchFamily="34" charset="0"/>
              </a:rPr>
              <a:t>The </a:t>
            </a:r>
            <a:r>
              <a:rPr lang="en-US" sz="2400" i="1" dirty="0">
                <a:solidFill>
                  <a:srgbClr val="FFFFFF"/>
                </a:solidFill>
                <a:latin typeface="Grandview" panose="020B0502040204020203" pitchFamily="34" charset="0"/>
              </a:rPr>
              <a:t>git</a:t>
            </a:r>
            <a:r>
              <a:rPr lang="en-US" sz="2400" dirty="0">
                <a:solidFill>
                  <a:srgbClr val="FFFFFF"/>
                </a:solidFill>
                <a:latin typeface="Grandview" panose="020B0502040204020203" pitchFamily="34" charset="0"/>
              </a:rPr>
              <a:t> projects for today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Grandview" panose="020B0502040204020203" pitchFamily="34" charset="0"/>
              </a:rPr>
              <a:t>PracticeReusableCode</a:t>
            </a:r>
            <a:endParaRPr lang="en-US" sz="2400" i="1" dirty="0">
              <a:latin typeface="Grandview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Grandview" panose="020B0502040204020203" pitchFamily="34" charset="0"/>
              </a:rPr>
              <a:t>PracticeSolutionReusableCode</a:t>
            </a:r>
            <a:endParaRPr lang="en-US" sz="2400" i="1" dirty="0">
              <a:latin typeface="Grandview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57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Object-Oriented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randview" panose="020B0502040204020203" pitchFamily="34" charset="0"/>
              </a:rPr>
              <a:t>The </a:t>
            </a:r>
            <a:r>
              <a:rPr lang="en-US" b="1" dirty="0">
                <a:latin typeface="Grandview" panose="020B0502040204020203" pitchFamily="34" charset="0"/>
              </a:rPr>
              <a:t>three pillars </a:t>
            </a:r>
            <a:r>
              <a:rPr lang="en-US" dirty="0">
                <a:latin typeface="Grandview" panose="020B0502040204020203" pitchFamily="34" charset="0"/>
              </a:rPr>
              <a:t>of </a:t>
            </a:r>
            <a:r>
              <a:rPr lang="en-US" b="1" dirty="0">
                <a:latin typeface="Grandview" panose="020B0502040204020203" pitchFamily="34" charset="0"/>
              </a:rPr>
              <a:t>Object-Oriented Programming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Encapsulation (already covered)</a:t>
            </a:r>
            <a:br>
              <a:rPr lang="en-US" dirty="0">
                <a:latin typeface="Grandview" panose="020B0502040204020203" pitchFamily="34" charset="0"/>
              </a:rPr>
            </a:br>
            <a:r>
              <a:rPr lang="en-US" sz="2000" dirty="0">
                <a:latin typeface="Grandview" panose="020B0502040204020203" pitchFamily="34" charset="0"/>
              </a:rPr>
              <a:t>Create a class with fields and ops that work on those fields; make fields private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Polymorphism (start idea today)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Inheritance (start idea today)</a:t>
            </a:r>
          </a:p>
          <a:p>
            <a:pPr lvl="1"/>
            <a:endParaRPr lang="en-US" dirty="0">
              <a:latin typeface="Grandview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397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0EE85-2887-92FC-D31D-6FE0027DB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451866"/>
            <a:ext cx="6781800" cy="1600200"/>
          </a:xfr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latin typeface="Grandview Display" panose="020B0502040204020203" pitchFamily="34" charset="0"/>
              </a:rPr>
              <a:t>Discuss: What are some ways we can reuse code? </a:t>
            </a:r>
          </a:p>
        </p:txBody>
      </p:sp>
      <p:pic>
        <p:nvPicPr>
          <p:cNvPr id="5" name="Graphic 4" descr="Recycle with solid fill">
            <a:extLst>
              <a:ext uri="{FF2B5EF4-FFF2-40B4-BE49-F238E27FC236}">
                <a16:creationId xmlns:a16="http://schemas.microsoft.com/office/drawing/2014/main" id="{2AF862FF-A2BE-39A7-D61A-5EB0CB2C34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0" y="4451866"/>
            <a:ext cx="1600200" cy="1600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EF4102-7EF7-40AD-D107-72415E24B48A}"/>
              </a:ext>
            </a:extLst>
          </p:cNvPr>
          <p:cNvSpPr txBox="1"/>
          <p:nvPr/>
        </p:nvSpPr>
        <p:spPr>
          <a:xfrm>
            <a:off x="914400" y="5867400"/>
            <a:ext cx="7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69E654-1E11-8AAD-B2D0-4E085CE04BB8}"/>
              </a:ext>
            </a:extLst>
          </p:cNvPr>
          <p:cNvSpPr txBox="1"/>
          <p:nvPr/>
        </p:nvSpPr>
        <p:spPr>
          <a:xfrm>
            <a:off x="304800" y="1219200"/>
            <a:ext cx="83438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Grandview" panose="020B0502040204020203" pitchFamily="34" charset="0"/>
              </a:rPr>
              <a:t>You’re working on a new software project, and you come across a problem that you feel like you’ve already solved before for a different project.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randview" panose="020B0502040204020203" pitchFamily="34" charset="0"/>
              </a:rPr>
              <a:t>How would you go about reusing your solution?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randview" panose="020B0502040204020203" pitchFamily="34" charset="0"/>
              </a:rPr>
              <a:t>In general, what process would you use to reuse old code? </a:t>
            </a:r>
          </a:p>
        </p:txBody>
      </p:sp>
    </p:spTree>
    <p:extLst>
      <p:ext uri="{BB962C8B-B14F-4D97-AF65-F5344CB8AC3E}">
        <p14:creationId xmlns:p14="http://schemas.microsoft.com/office/powerpoint/2010/main" val="2218818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4B9D7-A732-4414-2B17-314E3E2EE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Interfaces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reusing common </a:t>
            </a:r>
            <a:r>
              <a:rPr lang="en-US" b="1" i="1" dirty="0"/>
              <a:t>behaviors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C1059-7908-0E99-7A21-5CA1A1BC4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i="1" dirty="0"/>
              <a:t>interface</a:t>
            </a:r>
            <a:r>
              <a:rPr lang="en-US" dirty="0"/>
              <a:t> is a Java construct that looks like a class, but:</a:t>
            </a:r>
          </a:p>
          <a:p>
            <a:pPr lvl="1"/>
            <a:r>
              <a:rPr lang="en-US" dirty="0"/>
              <a:t>Has no fields</a:t>
            </a:r>
          </a:p>
          <a:p>
            <a:pPr lvl="1"/>
            <a:r>
              <a:rPr lang="en-US" dirty="0"/>
              <a:t>Has method headers, but </a:t>
            </a:r>
            <a:r>
              <a:rPr lang="en-US" b="1" dirty="0"/>
              <a:t>no code bodies</a:t>
            </a:r>
          </a:p>
          <a:p>
            <a:r>
              <a:rPr lang="en-US" dirty="0"/>
              <a:t>Use an interface to abstract an idea that has multiple, different implementations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58CA67-78F3-AAE5-76BF-EAF4B24F5811}"/>
              </a:ext>
            </a:extLst>
          </p:cNvPr>
          <p:cNvSpPr txBox="1"/>
          <p:nvPr/>
        </p:nvSpPr>
        <p:spPr>
          <a:xfrm>
            <a:off x="1257631" y="5029200"/>
            <a:ext cx="662873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public interface Drawable {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	void </a:t>
            </a:r>
            <a:r>
              <a:rPr lang="en-US" sz="2800" dirty="0" err="1">
                <a:latin typeface="Consolas" panose="020B0609020204030204" pitchFamily="49" charset="0"/>
              </a:rPr>
              <a:t>drawOn</a:t>
            </a:r>
            <a:r>
              <a:rPr lang="en-US" sz="2800" dirty="0">
                <a:latin typeface="Consolas" panose="020B0609020204030204" pitchFamily="49" charset="0"/>
              </a:rPr>
              <a:t>(Graphics2D g2d);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123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DD3C5-3F54-2193-F803-D8AF763FB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Inheritance: reusing common </a:t>
            </a:r>
            <a:r>
              <a:rPr lang="en-US" b="1" i="1" dirty="0"/>
              <a:t>attributes </a:t>
            </a:r>
            <a:r>
              <a:rPr lang="en-US" b="1" u="sng" dirty="0"/>
              <a:t>and</a:t>
            </a:r>
            <a:r>
              <a:rPr lang="en-US" b="1" dirty="0"/>
              <a:t> </a:t>
            </a:r>
            <a:r>
              <a:rPr lang="en-US" b="1" i="1" dirty="0"/>
              <a:t>behaviors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084DF-E4A5-1B96-2F54-ED73E0307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 can </a:t>
            </a:r>
            <a:r>
              <a:rPr lang="en-US" b="1" i="1" dirty="0"/>
              <a:t>inherit</a:t>
            </a:r>
            <a:r>
              <a:rPr lang="en-US" dirty="0"/>
              <a:t> from an existing class to reuse its fields and methods, while changing/adding functionality</a:t>
            </a:r>
          </a:p>
          <a:p>
            <a:r>
              <a:rPr lang="en-US" dirty="0"/>
              <a:t>Use inheritance when a new class is </a:t>
            </a:r>
            <a:r>
              <a:rPr lang="en-US" b="1" i="1" dirty="0"/>
              <a:t>a special case</a:t>
            </a:r>
            <a:r>
              <a:rPr lang="en-US" dirty="0"/>
              <a:t> of the concept represented by a class you already have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7ED7C0-BD26-CF9C-72ED-CEAA153F66AD}"/>
              </a:ext>
            </a:extLst>
          </p:cNvPr>
          <p:cNvSpPr txBox="1"/>
          <p:nvPr/>
        </p:nvSpPr>
        <p:spPr>
          <a:xfrm>
            <a:off x="299171" y="4964983"/>
            <a:ext cx="3005951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public class Shape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// fields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// methods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AB9329-B3F1-84AA-6C38-61BB05157F7D}"/>
              </a:ext>
            </a:extLst>
          </p:cNvPr>
          <p:cNvSpPr txBox="1"/>
          <p:nvPr/>
        </p:nvSpPr>
        <p:spPr>
          <a:xfrm>
            <a:off x="3733800" y="4964982"/>
            <a:ext cx="5121915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public class Square 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US" sz="2000" dirty="0">
                <a:latin typeface="Consolas" panose="020B0609020204030204" pitchFamily="49" charset="0"/>
              </a:rPr>
              <a:t> Shape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// optional: new fields, 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	// new/changed methods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4236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85751-C1AD-4AE2-D29E-EF4F6A2F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By the end of today, </a:t>
            </a:r>
            <a:br>
              <a:rPr lang="en-US" dirty="0"/>
            </a:br>
            <a:r>
              <a:rPr lang="en-US" dirty="0"/>
              <a:t>you’ll be able to…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0EDC1-BDB7-221F-7E06-03DFE1A21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sz="2800" dirty="0"/>
              <a:t>Explain why interfaces and inheritance are a better way to reuse code than copy/paste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Identify when and how to extract shared methods from existing classes into an interface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Identify when and how to make a new class inherit from an existing class</a:t>
            </a:r>
          </a:p>
          <a:p>
            <a:endParaRPr lang="en-US" sz="2800" dirty="0"/>
          </a:p>
          <a:p>
            <a:r>
              <a:rPr lang="en-US" sz="2800" dirty="0"/>
              <a:t>Define the term </a:t>
            </a:r>
            <a:r>
              <a:rPr lang="en-US" sz="2800" b="1" i="1" dirty="0"/>
              <a:t>polymorphism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96245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randview">
      <a:majorFont>
        <a:latin typeface="Grandview Display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12275</TotalTime>
  <Words>369</Words>
  <Application>Microsoft Office PowerPoint</Application>
  <PresentationFormat>On-screen Show (4:3)</PresentationFormat>
  <Paragraphs>49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Consolas</vt:lpstr>
      <vt:lpstr>Grandview</vt:lpstr>
      <vt:lpstr>Grandview Display</vt:lpstr>
      <vt:lpstr>Office Theme</vt:lpstr>
      <vt:lpstr>CSSE 220</vt:lpstr>
      <vt:lpstr>Object-Oriented Programming</vt:lpstr>
      <vt:lpstr>Discuss: What are some ways we can reuse code? </vt:lpstr>
      <vt:lpstr>Interfaces:  reusing common behaviors</vt:lpstr>
      <vt:lpstr>Inheritance: reusing common attributes and behaviors</vt:lpstr>
      <vt:lpstr>By the end of today,  you’ll be able to…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668</cp:revision>
  <cp:lastPrinted>2015-10-02T13:25:50Z</cp:lastPrinted>
  <dcterms:created xsi:type="dcterms:W3CDTF">2011-01-18T15:01:32Z</dcterms:created>
  <dcterms:modified xsi:type="dcterms:W3CDTF">2026-10-03T19:22:42Z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</Properties>
</file>