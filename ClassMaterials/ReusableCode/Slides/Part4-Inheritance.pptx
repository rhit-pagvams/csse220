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51" r:id="rId4"/>
  </p:sldMasterIdLst>
  <p:notesMasterIdLst>
    <p:notesMasterId r:id="rId23"/>
  </p:notesMasterIdLst>
  <p:handoutMasterIdLst>
    <p:handoutMasterId r:id="rId24"/>
  </p:handoutMasterIdLst>
  <p:sldIdLst>
    <p:sldId id="256" r:id="rId5"/>
    <p:sldId id="368" r:id="rId6"/>
    <p:sldId id="369" r:id="rId7"/>
    <p:sldId id="370" r:id="rId8"/>
    <p:sldId id="371" r:id="rId9"/>
    <p:sldId id="386" r:id="rId10"/>
    <p:sldId id="393" r:id="rId11"/>
    <p:sldId id="373" r:id="rId12"/>
    <p:sldId id="372" r:id="rId13"/>
    <p:sldId id="374" r:id="rId14"/>
    <p:sldId id="375" r:id="rId15"/>
    <p:sldId id="376" r:id="rId16"/>
    <p:sldId id="387" r:id="rId17"/>
    <p:sldId id="391" r:id="rId18"/>
    <p:sldId id="377" r:id="rId19"/>
    <p:sldId id="392" r:id="rId20"/>
    <p:sldId id="378" r:id="rId21"/>
    <p:sldId id="380" r:id="rId22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EE7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A4166D-275D-42FB-9415-E159EBF2FD40}" v="1" dt="2023-11-20T21:44:12.7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05" autoAdjust="0"/>
    <p:restoredTop sz="71885" autoAdjust="0"/>
  </p:normalViewPr>
  <p:slideViewPr>
    <p:cSldViewPr snapToGrid="0">
      <p:cViewPr varScale="1">
        <p:scale>
          <a:sx n="79" d="100"/>
          <a:sy n="79" d="100"/>
        </p:scale>
        <p:origin x="390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merville, Macartan" userId="S::summermt@rose-hulman.edu::7b2a0604-6c98-4445-9309-9fb015585c0d" providerId="AD" clId="Web-{06F8DD94-CAFF-48A1-A9C3-868B0C5AA276}"/>
    <pc:docChg chg="modSld">
      <pc:chgData name="Summerville, Macartan" userId="S::summermt@rose-hulman.edu::7b2a0604-6c98-4445-9309-9fb015585c0d" providerId="AD" clId="Web-{06F8DD94-CAFF-48A1-A9C3-868B0C5AA276}" dt="2021-10-12T13:32:43.738" v="1" actId="1076"/>
      <pc:docMkLst>
        <pc:docMk/>
      </pc:docMkLst>
      <pc:sldChg chg="modSp">
        <pc:chgData name="Summerville, Macartan" userId="S::summermt@rose-hulman.edu::7b2a0604-6c98-4445-9309-9fb015585c0d" providerId="AD" clId="Web-{06F8DD94-CAFF-48A1-A9C3-868B0C5AA276}" dt="2021-10-12T13:32:43.738" v="1" actId="1076"/>
        <pc:sldMkLst>
          <pc:docMk/>
          <pc:sldMk cId="2922646918" sldId="391"/>
        </pc:sldMkLst>
        <pc:picChg chg="mod">
          <ac:chgData name="Summerville, Macartan" userId="S::summermt@rose-hulman.edu::7b2a0604-6c98-4445-9309-9fb015585c0d" providerId="AD" clId="Web-{06F8DD94-CAFF-48A1-A9C3-868B0C5AA276}" dt="2021-10-12T13:32:43.738" v="1" actId="1076"/>
          <ac:picMkLst>
            <pc:docMk/>
            <pc:sldMk cId="2922646918" sldId="391"/>
            <ac:picMk id="5" creationId="{6CBCA8B7-839A-6B48-9A15-D29E72AB46FA}"/>
          </ac:picMkLst>
        </pc:picChg>
      </pc:sldChg>
    </pc:docChg>
  </pc:docChgLst>
  <pc:docChgLst>
    <pc:chgData name="Yoder, Jason" userId="28f4d4d8-da04-4f86-b14d-a21675737bc5" providerId="ADAL" clId="{26A4166D-275D-42FB-9415-E159EBF2FD40}"/>
    <pc:docChg chg="custSel addSld modSld sldOrd">
      <pc:chgData name="Yoder, Jason" userId="28f4d4d8-da04-4f86-b14d-a21675737bc5" providerId="ADAL" clId="{26A4166D-275D-42FB-9415-E159EBF2FD40}" dt="2023-11-21T17:25:21.540" v="554" actId="14100"/>
      <pc:docMkLst>
        <pc:docMk/>
      </pc:docMkLst>
      <pc:sldChg chg="modSp mod modNotesTx">
        <pc:chgData name="Yoder, Jason" userId="28f4d4d8-da04-4f86-b14d-a21675737bc5" providerId="ADAL" clId="{26A4166D-275D-42FB-9415-E159EBF2FD40}" dt="2023-11-21T17:25:21.540" v="554" actId="14100"/>
        <pc:sldMkLst>
          <pc:docMk/>
          <pc:sldMk cId="0" sldId="256"/>
        </pc:sldMkLst>
        <pc:spChg chg="mod">
          <ac:chgData name="Yoder, Jason" userId="28f4d4d8-da04-4f86-b14d-a21675737bc5" providerId="ADAL" clId="{26A4166D-275D-42FB-9415-E159EBF2FD40}" dt="2023-11-21T17:25:21.540" v="554" actId="14100"/>
          <ac:spMkLst>
            <pc:docMk/>
            <pc:sldMk cId="0" sldId="256"/>
            <ac:spMk id="5" creationId="{74C4FB13-A9C6-AE49-93D9-007B088B724C}"/>
          </ac:spMkLst>
        </pc:spChg>
      </pc:sldChg>
      <pc:sldChg chg="ord">
        <pc:chgData name="Yoder, Jason" userId="28f4d4d8-da04-4f86-b14d-a21675737bc5" providerId="ADAL" clId="{26A4166D-275D-42FB-9415-E159EBF2FD40}" dt="2023-11-20T21:49:20.219" v="521"/>
        <pc:sldMkLst>
          <pc:docMk/>
          <pc:sldMk cId="0" sldId="381"/>
        </pc:sldMkLst>
      </pc:sldChg>
      <pc:sldChg chg="addSp modSp new mod modNotesTx">
        <pc:chgData name="Yoder, Jason" userId="28f4d4d8-da04-4f86-b14d-a21675737bc5" providerId="ADAL" clId="{26A4166D-275D-42FB-9415-E159EBF2FD40}" dt="2023-11-20T21:49:09.344" v="517" actId="20577"/>
        <pc:sldMkLst>
          <pc:docMk/>
          <pc:sldMk cId="2283330882" sldId="396"/>
        </pc:sldMkLst>
        <pc:spChg chg="mod">
          <ac:chgData name="Yoder, Jason" userId="28f4d4d8-da04-4f86-b14d-a21675737bc5" providerId="ADAL" clId="{26A4166D-275D-42FB-9415-E159EBF2FD40}" dt="2023-11-20T21:43:13.322" v="131" actId="20577"/>
          <ac:spMkLst>
            <pc:docMk/>
            <pc:sldMk cId="2283330882" sldId="396"/>
            <ac:spMk id="2" creationId="{0FE5D7D7-B2C6-CA92-C52A-C39677C41C69}"/>
          </ac:spMkLst>
        </pc:spChg>
        <pc:spChg chg="mod">
          <ac:chgData name="Yoder, Jason" userId="28f4d4d8-da04-4f86-b14d-a21675737bc5" providerId="ADAL" clId="{26A4166D-275D-42FB-9415-E159EBF2FD40}" dt="2023-11-20T21:48:43.476" v="458" actId="14100"/>
          <ac:spMkLst>
            <pc:docMk/>
            <pc:sldMk cId="2283330882" sldId="396"/>
            <ac:spMk id="3" creationId="{59607EB5-0DCE-F85D-2869-0FE09B932F1B}"/>
          </ac:spMkLst>
        </pc:spChg>
        <pc:picChg chg="add mod">
          <ac:chgData name="Yoder, Jason" userId="28f4d4d8-da04-4f86-b14d-a21675737bc5" providerId="ADAL" clId="{26A4166D-275D-42FB-9415-E159EBF2FD40}" dt="2023-11-20T21:48:48.353" v="462" actId="1076"/>
          <ac:picMkLst>
            <pc:docMk/>
            <pc:sldMk cId="2283330882" sldId="396"/>
            <ac:picMk id="5" creationId="{0BD5A0DF-4E2C-82EC-5E5E-62D988B31CB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972256" y="0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D184755D-2083-4E78-A15A-12BCB3E43BAF}" type="datetimeFigureOut">
              <a:rPr lang="en-US"/>
              <a:pPr>
                <a:defRPr/>
              </a:pPr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972256" y="8829121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466E5494-E446-4433-8013-DBDE64CEAD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900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970734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975D8C37-1815-4FAF-9DC3-E6CC2A524965}" type="datetimeFigureOut">
              <a:rPr lang="en-US"/>
              <a:pPr>
                <a:defRPr/>
              </a:pPr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808" tIns="44904" rIns="89808" bIns="44904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1345" y="4416098"/>
            <a:ext cx="5607711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970734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3A187583-0EC9-4694-9EAD-0DA64A2767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04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dirty="0"/>
              <a:t>Bring hard copy of </a:t>
            </a:r>
            <a:r>
              <a:rPr lang="en-US" dirty="0" err="1"/>
              <a:t>CheckingAccount</a:t>
            </a:r>
            <a:r>
              <a:rPr lang="en-US" dirty="0"/>
              <a:t>. Start this not too long after the start of the 2</a:t>
            </a:r>
            <a:r>
              <a:rPr lang="en-US" baseline="30000" dirty="0"/>
              <a:t>nd</a:t>
            </a:r>
            <a:r>
              <a:rPr lang="en-US" dirty="0"/>
              <a:t> hour. 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957318-F2D6-4424-86CA-EC3D1642FA8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970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9247D9-907D-412C-BCC1-5896E9FEDD1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655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- animated bullets</a:t>
            </a: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1ABF6A-382B-4F4B-90A1-319474DFB21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30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Draw a Venn diagram here showing the set of all SavingsAccounts is a subset of the set of all BankAccounts.  Subclass is like subset.</a:t>
            </a:r>
          </a:p>
          <a:p>
            <a:r>
              <a:rPr lang="en-US"/>
              <a:t>(Also inheritance flows down, so subclasses are below superclasses.)</a:t>
            </a: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0A26CBE-175B-4D78-98E5-F4A9240C5EA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45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[Show code example here, just looking at code for </a:t>
            </a:r>
            <a:r>
              <a:rPr lang="en-US" err="1"/>
              <a:t>BankAccount</a:t>
            </a:r>
            <a:r>
              <a:rPr lang="en-US"/>
              <a:t> and </a:t>
            </a:r>
            <a:r>
              <a:rPr lang="en-US" err="1"/>
              <a:t>SavingsAccount</a:t>
            </a:r>
            <a:r>
              <a:rPr lang="en-US"/>
              <a:t> (not writing it live)]</a:t>
            </a: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CE116A-8D8C-4A53-8193-C79E6772096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32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a main method:</a:t>
            </a:r>
          </a:p>
          <a:p>
            <a:endParaRPr lang="en-US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static void main(String[]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args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{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SavingsAccount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SavingsAccount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(5);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sa.deposit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(100);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sa.getBalance</a:t>
            </a:r>
            <a:r>
              <a:rPr 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);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sa.addInterest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sa.getBalance</a:t>
            </a:r>
            <a:r>
              <a:rPr 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);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Ask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students, “H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ow does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know its starting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balance?”</a:t>
            </a:r>
            <a:endParaRPr lang="en-US" dirty="0"/>
          </a:p>
          <a:p>
            <a:endParaRPr lang="en-US" dirty="0"/>
          </a:p>
          <a:p>
            <a:r>
              <a:rPr lang="en-US" dirty="0"/>
              <a:t>@startuml</a:t>
            </a:r>
          </a:p>
          <a:p>
            <a:r>
              <a:rPr lang="en-US" dirty="0" err="1"/>
              <a:t>skinparam</a:t>
            </a:r>
            <a:r>
              <a:rPr lang="en-US" dirty="0"/>
              <a:t> style </a:t>
            </a:r>
            <a:r>
              <a:rPr lang="en-US" dirty="0" err="1"/>
              <a:t>strictuml</a:t>
            </a:r>
            <a:endParaRPr lang="en-US" dirty="0"/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</a:t>
            </a:r>
          </a:p>
          <a:p>
            <a:r>
              <a:rPr lang="en-US" dirty="0"/>
              <a:t>	balance;</a:t>
            </a:r>
          </a:p>
          <a:p>
            <a:r>
              <a:rPr lang="en-US" dirty="0"/>
              <a:t>	</a:t>
            </a:r>
            <a:r>
              <a:rPr lang="en-US" dirty="0" err="1"/>
              <a:t>BankAccount</a:t>
            </a:r>
            <a:r>
              <a:rPr lang="en-US" dirty="0"/>
              <a:t>()</a:t>
            </a:r>
          </a:p>
          <a:p>
            <a:r>
              <a:rPr lang="en-US" dirty="0"/>
              <a:t>	</a:t>
            </a:r>
            <a:r>
              <a:rPr lang="en-US" dirty="0" err="1"/>
              <a:t>BankAccount</a:t>
            </a:r>
            <a:r>
              <a:rPr lang="en-US" dirty="0"/>
              <a:t>(</a:t>
            </a:r>
            <a:r>
              <a:rPr lang="en-US" dirty="0" err="1"/>
              <a:t>initialBalance</a:t>
            </a:r>
            <a:r>
              <a:rPr lang="en-US" dirty="0"/>
              <a:t>)</a:t>
            </a:r>
          </a:p>
          <a:p>
            <a:r>
              <a:rPr lang="en-US" dirty="0"/>
              <a:t>	deposit(amount)</a:t>
            </a:r>
          </a:p>
          <a:p>
            <a:r>
              <a:rPr lang="en-US" dirty="0"/>
              <a:t>	withdraw(amount)</a:t>
            </a:r>
          </a:p>
          <a:p>
            <a:r>
              <a:rPr lang="en-US" dirty="0"/>
              <a:t>	</a:t>
            </a:r>
            <a:r>
              <a:rPr lang="en-US" dirty="0" err="1"/>
              <a:t>getBalance</a:t>
            </a:r>
            <a:r>
              <a:rPr lang="en-US" dirty="0"/>
              <a:t>()</a:t>
            </a:r>
          </a:p>
          <a:p>
            <a:r>
              <a:rPr lang="en-US" dirty="0"/>
              <a:t>	transfer(amount, </a:t>
            </a:r>
            <a:r>
              <a:rPr lang="en-US" dirty="0" err="1"/>
              <a:t>otherBankAccount</a:t>
            </a:r>
            <a:r>
              <a:rPr lang="en-US" dirty="0"/>
              <a:t>)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SavingsAccount</a:t>
            </a:r>
            <a:r>
              <a:rPr lang="en-US" dirty="0"/>
              <a:t>  {</a:t>
            </a:r>
          </a:p>
          <a:p>
            <a:r>
              <a:rPr lang="en-US" dirty="0"/>
              <a:t>	</a:t>
            </a:r>
            <a:r>
              <a:rPr lang="en-US" dirty="0" err="1"/>
              <a:t>interestRate</a:t>
            </a:r>
            <a:r>
              <a:rPr lang="en-US" dirty="0"/>
              <a:t>;</a:t>
            </a:r>
          </a:p>
          <a:p>
            <a:r>
              <a:rPr lang="en-US" dirty="0"/>
              <a:t>	</a:t>
            </a:r>
            <a:r>
              <a:rPr lang="en-US" dirty="0" err="1"/>
              <a:t>SavingsAccount</a:t>
            </a:r>
            <a:r>
              <a:rPr lang="en-US" dirty="0"/>
              <a:t>(rate)</a:t>
            </a:r>
          </a:p>
          <a:p>
            <a:r>
              <a:rPr lang="en-US" dirty="0"/>
              <a:t>	</a:t>
            </a:r>
            <a:r>
              <a:rPr lang="en-US" dirty="0" err="1"/>
              <a:t>addInterest</a:t>
            </a:r>
            <a:r>
              <a:rPr lang="en-US" dirty="0"/>
              <a:t>()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SavingsAccount</a:t>
            </a:r>
            <a:r>
              <a:rPr lang="en-US" dirty="0"/>
              <a:t> -up-|&gt; </a:t>
            </a:r>
            <a:r>
              <a:rPr lang="en-US" dirty="0" err="1"/>
              <a:t>BankAccount</a:t>
            </a:r>
            <a:endParaRPr lang="en-US" dirty="0"/>
          </a:p>
          <a:p>
            <a:r>
              <a:rPr lang="en-US" dirty="0"/>
              <a:t>@enduml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187583-0EC9-4694-9EAD-0DA64A27677E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540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a main method:</a:t>
            </a:r>
          </a:p>
          <a:p>
            <a:endParaRPr lang="en-US" sz="1200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static void main(String[] </a:t>
            </a:r>
            <a:r>
              <a:rPr lang="en-US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args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{</a:t>
            </a:r>
          </a:p>
          <a:p>
            <a:r>
              <a:rPr lang="en-US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SavingsAccount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</a:t>
            </a:r>
            <a:r>
              <a:rPr lang="en-US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SavingsAccount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(5);</a:t>
            </a:r>
          </a:p>
          <a:p>
            <a:r>
              <a:rPr lang="en-US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sa.deposit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(100);</a:t>
            </a:r>
          </a:p>
          <a:p>
            <a:r>
              <a:rPr lang="en-US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sz="1200" b="1" i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sz="1200" b="1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b="1" i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sa.getBalance</a:t>
            </a:r>
            <a:r>
              <a:rPr lang="en-US" sz="1200" b="1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);</a:t>
            </a:r>
          </a:p>
          <a:p>
            <a:r>
              <a:rPr lang="en-US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sa.addInterest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US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sz="1200" b="1" i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sz="1200" b="1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b="1" i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sa.getBalance</a:t>
            </a:r>
            <a:r>
              <a:rPr lang="en-US" sz="1200" b="1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);</a:t>
            </a:r>
          </a:p>
          <a:p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en-US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Ask</a:t>
            </a:r>
            <a:r>
              <a:rPr lang="en-US"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students, “H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ow does </a:t>
            </a:r>
            <a:r>
              <a:rPr lang="en-US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know its starting</a:t>
            </a:r>
            <a:r>
              <a:rPr lang="en-US"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balance?”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187583-0EC9-4694-9EAD-0DA64A27677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15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will implement </a:t>
            </a:r>
            <a:r>
              <a:rPr lang="en-US" err="1"/>
              <a:t>CheckingAccount</a:t>
            </a:r>
            <a:r>
              <a:rPr lang="en-US" baseline="0"/>
              <a:t> in a little while.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187583-0EC9-4694-9EAD-0DA64A27677E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0847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Advanced code sometimes has deep inheritance hierarchies</a:t>
            </a:r>
          </a:p>
          <a:p>
            <a:r>
              <a:rPr lang="en-US"/>
              <a:t>Trace through a few paths asking students what might be inherited and what might be added at each level (See</a:t>
            </a:r>
            <a:r>
              <a:rPr lang="en-US" baseline="0"/>
              <a:t> Figure 1 - 3, pages 422 - 3</a:t>
            </a:r>
            <a:r>
              <a:rPr lang="en-US"/>
              <a:t>)</a:t>
            </a:r>
          </a:p>
          <a:p>
            <a:endParaRPr lang="en-US"/>
          </a:p>
          <a:p>
            <a:r>
              <a:rPr lang="en-US"/>
              <a:t>Every </a:t>
            </a:r>
            <a:r>
              <a:rPr lang="en-US" err="1"/>
              <a:t>JComponent</a:t>
            </a:r>
            <a:r>
              <a:rPr lang="en-US"/>
              <a:t> has a width and a height, so the</a:t>
            </a:r>
            <a:r>
              <a:rPr lang="en-US" baseline="0"/>
              <a:t> </a:t>
            </a:r>
            <a:r>
              <a:rPr lang="en-US" baseline="0" err="1"/>
              <a:t>JComponent</a:t>
            </a:r>
            <a:r>
              <a:rPr lang="en-US" baseline="0"/>
              <a:t> class has a </a:t>
            </a:r>
            <a:r>
              <a:rPr lang="en-US" baseline="0" err="1"/>
              <a:t>getWidth</a:t>
            </a:r>
            <a:r>
              <a:rPr lang="en-US" baseline="0"/>
              <a:t>() and a </a:t>
            </a:r>
            <a:r>
              <a:rPr lang="en-US" baseline="0" err="1"/>
              <a:t>getHeight</a:t>
            </a:r>
            <a:r>
              <a:rPr lang="en-US" baseline="0"/>
              <a:t>() method.</a:t>
            </a:r>
          </a:p>
          <a:p>
            <a:endParaRPr lang="en-US" baseline="0"/>
          </a:p>
          <a:p>
            <a:r>
              <a:rPr lang="en-US" baseline="0"/>
              <a:t>Every </a:t>
            </a:r>
            <a:r>
              <a:rPr lang="en-US" baseline="0" err="1"/>
              <a:t>JButton</a:t>
            </a:r>
            <a:r>
              <a:rPr lang="en-US" baseline="0"/>
              <a:t> can have text or an icon on it, so the </a:t>
            </a:r>
            <a:r>
              <a:rPr lang="en-US" baseline="0" err="1"/>
              <a:t>AbstractButton</a:t>
            </a:r>
            <a:r>
              <a:rPr lang="en-US" baseline="0"/>
              <a:t> class has a </a:t>
            </a:r>
            <a:r>
              <a:rPr lang="en-US" baseline="0" err="1"/>
              <a:t>setText</a:t>
            </a:r>
            <a:r>
              <a:rPr lang="en-US" baseline="0"/>
              <a:t>() and a </a:t>
            </a:r>
            <a:r>
              <a:rPr lang="en-US" baseline="0" err="1"/>
              <a:t>setIcon</a:t>
            </a:r>
            <a:r>
              <a:rPr lang="en-US" baseline="0"/>
              <a:t>() method.</a:t>
            </a:r>
            <a:endParaRPr lang="en-US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0DD58A-E7F9-4DAF-8A80-6658051FAE3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681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5268C4-EF31-4B3E-B203-B8DB2EAD44A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3565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Start to implement </a:t>
            </a:r>
            <a:r>
              <a:rPr lang="en-US" err="1"/>
              <a:t>CheckingAccount</a:t>
            </a:r>
            <a:r>
              <a:rPr lang="en-US"/>
              <a:t>, just create class,</a:t>
            </a:r>
            <a:r>
              <a:rPr lang="en-US" baseline="0"/>
              <a:t> but do not add methods yet.</a:t>
            </a:r>
            <a:endParaRPr lang="en-US"/>
          </a:p>
          <a:p>
            <a:endParaRPr lang="en-US"/>
          </a:p>
          <a:p>
            <a:r>
              <a:rPr lang="en-US"/>
              <a:t>Draw UML diagram with details (See Figure on</a:t>
            </a:r>
            <a:r>
              <a:rPr lang="en-US" baseline="0"/>
              <a:t> page 443</a:t>
            </a:r>
            <a:r>
              <a:rPr lang="en-US"/>
              <a:t>)  on board first [keep this, you’ll need it later]</a:t>
            </a:r>
          </a:p>
          <a:p>
            <a:endParaRPr lang="en-US"/>
          </a:p>
          <a:p>
            <a:r>
              <a:rPr lang="en-US"/>
              <a:t>Use no-</a:t>
            </a:r>
            <a:r>
              <a:rPr lang="en-US" err="1"/>
              <a:t>arg</a:t>
            </a:r>
            <a:r>
              <a:rPr lang="en-US"/>
              <a:t> constructor initially. We’ll add</a:t>
            </a:r>
            <a:r>
              <a:rPr lang="en-US" baseline="0"/>
              <a:t> the argument later.</a:t>
            </a:r>
            <a:endParaRPr lang="en-US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0F75752-6D26-48BC-AC88-4E3BADE4DD7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672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Discuss super method calls.</a:t>
            </a:r>
          </a:p>
          <a:p>
            <a:endParaRPr lang="en-US"/>
          </a:p>
          <a:p>
            <a:r>
              <a:rPr lang="en-US"/>
              <a:t>Add </a:t>
            </a:r>
            <a:r>
              <a:rPr lang="en-US" err="1"/>
              <a:t>CheckingAccount</a:t>
            </a:r>
            <a:r>
              <a:rPr lang="en-US"/>
              <a:t>(double) constructor</a:t>
            </a: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2AAE34-BB19-4F3D-9984-C1B088AF47B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3668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Override:</a:t>
            </a:r>
          </a:p>
          <a:p>
            <a:endParaRPr lang="en-US"/>
          </a:p>
          <a:p>
            <a:r>
              <a:rPr lang="en-US"/>
              <a:t>deposit( amount )</a:t>
            </a:r>
          </a:p>
          <a:p>
            <a:r>
              <a:rPr lang="en-US"/>
              <a:t>withdraw(</a:t>
            </a:r>
            <a:r>
              <a:rPr lang="en-US" baseline="0"/>
              <a:t> </a:t>
            </a:r>
            <a:r>
              <a:rPr lang="en-US"/>
              <a:t>amount )</a:t>
            </a:r>
          </a:p>
          <a:p>
            <a:r>
              <a:rPr lang="en-US" err="1"/>
              <a:t>deductFees</a:t>
            </a:r>
            <a:r>
              <a:rPr lang="en-US"/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187583-0EC9-4694-9EAD-0DA64A27677E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906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@startuml</a:t>
            </a:r>
          </a:p>
          <a:p>
            <a:r>
              <a:rPr lang="en-US" dirty="0" err="1"/>
              <a:t>skinparam</a:t>
            </a:r>
            <a:r>
              <a:rPr lang="en-US" dirty="0"/>
              <a:t> style </a:t>
            </a:r>
            <a:r>
              <a:rPr lang="en-US" dirty="0" err="1"/>
              <a:t>strictuml</a:t>
            </a:r>
            <a:endParaRPr lang="en-US" dirty="0"/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</a:t>
            </a:r>
          </a:p>
          <a:p>
            <a:r>
              <a:rPr lang="en-US" dirty="0"/>
              <a:t>	balance</a:t>
            </a:r>
          </a:p>
          <a:p>
            <a:r>
              <a:rPr lang="en-US" dirty="0"/>
              <a:t>	</a:t>
            </a:r>
            <a:r>
              <a:rPr lang="en-US" dirty="0" err="1"/>
              <a:t>BankAccount</a:t>
            </a:r>
            <a:r>
              <a:rPr lang="en-US" dirty="0"/>
              <a:t>()</a:t>
            </a:r>
          </a:p>
          <a:p>
            <a:r>
              <a:rPr lang="en-US" dirty="0"/>
              <a:t>	</a:t>
            </a:r>
            <a:r>
              <a:rPr lang="en-US" dirty="0" err="1"/>
              <a:t>BankAccount</a:t>
            </a:r>
            <a:r>
              <a:rPr lang="en-US" dirty="0"/>
              <a:t>(</a:t>
            </a:r>
            <a:r>
              <a:rPr lang="en-US" dirty="0" err="1"/>
              <a:t>initialBalance</a:t>
            </a:r>
            <a:r>
              <a:rPr lang="en-US" dirty="0"/>
              <a:t>)</a:t>
            </a:r>
          </a:p>
          <a:p>
            <a:r>
              <a:rPr lang="en-US" dirty="0"/>
              <a:t>	deposit(amount)</a:t>
            </a:r>
          </a:p>
          <a:p>
            <a:r>
              <a:rPr lang="en-US" dirty="0"/>
              <a:t>	withdraw(amount)</a:t>
            </a:r>
          </a:p>
          <a:p>
            <a:r>
              <a:rPr lang="en-US" dirty="0"/>
              <a:t>	</a:t>
            </a:r>
            <a:r>
              <a:rPr lang="en-US" dirty="0" err="1"/>
              <a:t>getBalance</a:t>
            </a:r>
            <a:r>
              <a:rPr lang="en-US" dirty="0"/>
              <a:t>()</a:t>
            </a:r>
          </a:p>
          <a:p>
            <a:r>
              <a:rPr lang="en-US" dirty="0"/>
              <a:t>	transfer(amount, </a:t>
            </a:r>
            <a:r>
              <a:rPr lang="en-US" dirty="0" err="1"/>
              <a:t>otherBankAccount</a:t>
            </a:r>
            <a:r>
              <a:rPr lang="en-US" dirty="0"/>
              <a:t>)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SavingsAccount</a:t>
            </a:r>
            <a:r>
              <a:rPr lang="en-US" dirty="0"/>
              <a:t>  {</a:t>
            </a:r>
          </a:p>
          <a:p>
            <a:r>
              <a:rPr lang="en-US" dirty="0"/>
              <a:t>	</a:t>
            </a:r>
            <a:r>
              <a:rPr lang="en-US" dirty="0" err="1"/>
              <a:t>interestRate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 err="1"/>
              <a:t>SavingsAccount</a:t>
            </a:r>
            <a:r>
              <a:rPr lang="en-US" dirty="0"/>
              <a:t>(rate)</a:t>
            </a:r>
          </a:p>
          <a:p>
            <a:r>
              <a:rPr lang="en-US" dirty="0"/>
              <a:t>	</a:t>
            </a:r>
            <a:r>
              <a:rPr lang="en-US" dirty="0" err="1"/>
              <a:t>addInterest</a:t>
            </a:r>
            <a:r>
              <a:rPr lang="en-US" dirty="0"/>
              <a:t>()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CheckingAccount</a:t>
            </a:r>
            <a:r>
              <a:rPr lang="en-US" dirty="0"/>
              <a:t> {</a:t>
            </a:r>
          </a:p>
          <a:p>
            <a:r>
              <a:rPr lang="en-US" dirty="0"/>
              <a:t>	FREE_TRANSACTIONS</a:t>
            </a:r>
          </a:p>
          <a:p>
            <a:r>
              <a:rPr lang="en-US" dirty="0"/>
              <a:t>	TRANSACTION_FEE</a:t>
            </a:r>
          </a:p>
          <a:p>
            <a:r>
              <a:rPr lang="en-US" dirty="0"/>
              <a:t>	</a:t>
            </a:r>
            <a:r>
              <a:rPr lang="en-US" dirty="0" err="1"/>
              <a:t>transactionCount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 err="1"/>
              <a:t>CheckingAccount</a:t>
            </a:r>
            <a:r>
              <a:rPr lang="en-US" dirty="0"/>
              <a:t>(</a:t>
            </a:r>
            <a:r>
              <a:rPr lang="en-US" dirty="0" err="1"/>
              <a:t>initialBalance</a:t>
            </a:r>
            <a:r>
              <a:rPr lang="en-US" dirty="0"/>
              <a:t>)</a:t>
            </a:r>
          </a:p>
          <a:p>
            <a:r>
              <a:rPr lang="en-US" dirty="0"/>
              <a:t>	deposit(amount)</a:t>
            </a:r>
          </a:p>
          <a:p>
            <a:r>
              <a:rPr lang="en-US" dirty="0"/>
              <a:t>	withdraw(amount)</a:t>
            </a:r>
          </a:p>
          <a:p>
            <a:r>
              <a:rPr lang="en-US" dirty="0"/>
              <a:t>        </a:t>
            </a:r>
            <a:r>
              <a:rPr lang="en-US" dirty="0" err="1"/>
              <a:t>deductFees</a:t>
            </a:r>
            <a:r>
              <a:rPr lang="en-US" dirty="0"/>
              <a:t>()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SavingsAccount</a:t>
            </a:r>
            <a:r>
              <a:rPr lang="en-US" dirty="0"/>
              <a:t> -up-|&gt; </a:t>
            </a:r>
            <a:r>
              <a:rPr lang="en-US" dirty="0" err="1"/>
              <a:t>BankAccount</a:t>
            </a:r>
            <a:endParaRPr lang="en-US" dirty="0"/>
          </a:p>
          <a:p>
            <a:r>
              <a:rPr lang="en-US" dirty="0" err="1"/>
              <a:t>CheckingAccount</a:t>
            </a:r>
            <a:r>
              <a:rPr lang="en-US" dirty="0"/>
              <a:t> -up-|&gt; </a:t>
            </a:r>
            <a:r>
              <a:rPr lang="en-US" dirty="0" err="1"/>
              <a:t>BankAccount</a:t>
            </a:r>
            <a:endParaRPr lang="en-US" dirty="0"/>
          </a:p>
          <a:p>
            <a:r>
              <a:rPr lang="en-US" dirty="0"/>
              <a:t>@enduml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187583-0EC9-4694-9EAD-0DA64A27677E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9189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Draw B&amp;P diagrams.  Show calls.</a:t>
            </a:r>
          </a:p>
          <a:p>
            <a:r>
              <a:rPr lang="en-US"/>
              <a:t>Why not? Because </a:t>
            </a:r>
            <a:r>
              <a:rPr lang="en-US" err="1"/>
              <a:t>BankAccount</a:t>
            </a:r>
            <a:r>
              <a:rPr lang="en-US"/>
              <a:t> doesn’t have an </a:t>
            </a:r>
            <a:r>
              <a:rPr lang="en-US" err="1"/>
              <a:t>deductFees</a:t>
            </a:r>
            <a:r>
              <a:rPr lang="en-US"/>
              <a:t>() method!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F60CBC-2A70-49D3-9866-05F00BCCB9E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829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Draw B&amp;P diagrams.  Show calls.</a:t>
            </a:r>
          </a:p>
          <a:p>
            <a:r>
              <a:rPr lang="en-US"/>
              <a:t>Why not? Because </a:t>
            </a:r>
            <a:r>
              <a:rPr lang="en-US" err="1"/>
              <a:t>BankAccount</a:t>
            </a:r>
            <a:r>
              <a:rPr lang="en-US"/>
              <a:t> doesn’t have an </a:t>
            </a:r>
            <a:r>
              <a:rPr lang="en-US" err="1"/>
              <a:t>deductFees</a:t>
            </a:r>
            <a:r>
              <a:rPr lang="en-US"/>
              <a:t>() method!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F60CBC-2A70-49D3-9866-05F00BCCB9E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766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Suggest</a:t>
            </a:r>
            <a:r>
              <a:rPr lang="en-US" baseline="0"/>
              <a:t> d</a:t>
            </a:r>
            <a:r>
              <a:rPr lang="en-US"/>
              <a:t>rawing B&amp;P diagram and trace calls as practice for the exam.</a:t>
            </a: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88C4F2-B63F-49B5-8554-101017854A6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970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z="1400" baseline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2993E5-32C8-4EC2-BBC6-DB69025B612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126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7653D9-4690-439F-9AB7-DB1A2AAA78D3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C4F6E3-AEAB-490F-94DF-5833884795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568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3B8731-4EFC-479C-A7C9-026151864EE8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990282-8062-4273-9F07-599A313EBCD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01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123CBDE-6397-40B8-BCC4-2A8AF6618F34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2178AF-D2B4-4A07-ACA1-D2BF4B37B5E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804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64C111-18F6-4A24-8976-49396BFA8EF2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19513-1C4C-4968-BA21-20417918839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85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3CD23E-6C8D-45CB-BC3E-8DD3561F842A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E7C3EA-5B8B-4C8A-999C-888DFF1E68E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91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B72ED1-ED88-4B41-A8C3-B18B662B8B90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532257-2EEB-4A36-B5C4-9C4A7F1C50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20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D68C66-E7B6-4C99-A1F9-9976E1949B1A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6F40FA-9170-44FD-AFAC-69ADFB377AB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882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3E2C5D-F413-4AEC-A4BC-39DF47ABD9FD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526979-BFCF-4BF5-B677-EA86DE1B42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26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3A144D-5F63-4A2D-9E44-D40037CB6000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62EF4B-3459-4A1A-A9F2-72414015F7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812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A18366-BF24-4613-8FED-CA818E6D4477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803D57-373B-4F0D-B05A-B8082F9156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7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A47346-F063-481E-A86A-41BD06C43298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FC9157-32CE-4916-8093-BFDE56DFB0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571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7E089E1-7597-4F62-8647-1221879FBF32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B04DC7-7A80-4E55-ADE6-967D940C8C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523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2" r:id="rId1"/>
    <p:sldLayoutId id="2147484253" r:id="rId2"/>
    <p:sldLayoutId id="2147484254" r:id="rId3"/>
    <p:sldLayoutId id="2147484255" r:id="rId4"/>
    <p:sldLayoutId id="2147484256" r:id="rId5"/>
    <p:sldLayoutId id="2147484257" r:id="rId6"/>
    <p:sldLayoutId id="2147484258" r:id="rId7"/>
    <p:sldLayoutId id="2147484259" r:id="rId8"/>
    <p:sldLayoutId id="2147484260" r:id="rId9"/>
    <p:sldLayoutId id="2147484261" r:id="rId10"/>
    <p:sldLayoutId id="214748426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plantuml.com/plantuml/uml/NP113e8m44NNz1GiIo8dC378pgsUO6n7Q2m3wGooKEykrHh1PUU__BxyYWM2Z9rNnWDpNWDTzyRq8qb-LzaPF931hSeMWIxMJqTE7FZwmywXnQ5d9ngwcC-7oKbh0qo_IuEI-DWc0OWl65A-oNjfCIp-ADHJ9SCJt1mr_9MCbeu40x8SGQBgcj0194g1jOV4wNVTNr4v3kLZjnn0LKXsdkO5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lantuml.com/plantuml/uml/dP71Ri8m38RFyLFaMAJn2XEbQYKkJ6gv8o_nQ4HnKUAEmxPtNpCYBPsq2xtP_zVVl-DD4FGoNGOm0uQWjyZdqfXnOj4Ve5vnG3O4AkiNgsNfs8d3ONj7Pz7ITGnE2hn4VMxSdFJMu-stSo99V7GJZnpUo2VzIO_IayzchE0BKi0EtnsVGX9q3EbOo5EG5eL0BO72eyHCQEqkOSMFMxAhUZBdcSzsRjgwFXxQSj-LrM7tikz0PTMngUkK68suaQlu7wZSwC5NqUcpP2SZ3L6uH_spydgwhZ-Vyqj1FlmVP4DivpD_0m00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CSSE 220</a:t>
            </a:r>
          </a:p>
        </p:txBody>
      </p:sp>
      <p:sp>
        <p:nvSpPr>
          <p:cNvPr id="9219" name="Rectang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 eaLnBrk="1" hangingPunct="1">
              <a:lnSpc>
                <a:spcPct val="90000"/>
              </a:lnSpc>
            </a:pPr>
            <a:r>
              <a:rPr lang="en-US" sz="2500"/>
              <a:t>Inheritance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C4FB13-A9C6-AE49-93D9-007B088B724C}"/>
              </a:ext>
            </a:extLst>
          </p:cNvPr>
          <p:cNvSpPr/>
          <p:nvPr/>
        </p:nvSpPr>
        <p:spPr>
          <a:xfrm>
            <a:off x="304800" y="4559481"/>
            <a:ext cx="8534400" cy="218421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FFFFFF"/>
                </a:solidFill>
              </a:rPr>
              <a:t>The </a:t>
            </a:r>
            <a:r>
              <a:rPr lang="en-US" sz="2400" i="1" dirty="0">
                <a:solidFill>
                  <a:srgbClr val="FFFFFF"/>
                </a:solidFill>
              </a:rPr>
              <a:t>git</a:t>
            </a:r>
            <a:r>
              <a:rPr lang="en-US" sz="2400" dirty="0">
                <a:solidFill>
                  <a:srgbClr val="FFFFFF"/>
                </a:solidFill>
              </a:rPr>
              <a:t> projects for today 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PracticeReusableCode</a:t>
            </a:r>
            <a:endParaRPr lang="en-US" sz="2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PracticeSolutionReusableCode</a:t>
            </a:r>
            <a:endParaRPr lang="en-US" sz="24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Inheritance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4800" y="1481138"/>
            <a:ext cx="8686800" cy="4525962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en-US" sz="2800" dirty="0"/>
              <a:t>Sometimes a new class is </a:t>
            </a:r>
            <a:r>
              <a:rPr lang="en-US" sz="2800" b="1" dirty="0">
                <a:solidFill>
                  <a:schemeClr val="accent3"/>
                </a:solidFill>
              </a:rPr>
              <a:t>a special case </a:t>
            </a:r>
            <a:r>
              <a:rPr lang="en-US" sz="2800" dirty="0"/>
              <a:t>of the concept represented by another already existing class</a:t>
            </a:r>
          </a:p>
          <a:p>
            <a:pPr>
              <a:defRPr/>
            </a:pPr>
            <a:endParaRPr lang="en-US" sz="2800" dirty="0"/>
          </a:p>
          <a:p>
            <a:pPr>
              <a:defRPr/>
            </a:pPr>
            <a:r>
              <a:rPr lang="en-US" sz="2800" dirty="0"/>
              <a:t>New class can “inherit” from an existing class, and new class can have new/different functionality</a:t>
            </a:r>
          </a:p>
          <a:p>
            <a:pPr lvl="1">
              <a:defRPr/>
            </a:pPr>
            <a:r>
              <a:rPr lang="en-US" sz="2400" dirty="0"/>
              <a:t>How should </a:t>
            </a:r>
            <a:r>
              <a:rPr lang="en-US" sz="2400" b="1" i="1" dirty="0"/>
              <a:t>this type </a:t>
            </a:r>
            <a:r>
              <a:rPr lang="en-US" sz="2400" dirty="0"/>
              <a:t>of [general type] do this behavior?</a:t>
            </a:r>
          </a:p>
          <a:p>
            <a:pPr>
              <a:defRPr/>
            </a:pPr>
            <a:endParaRPr lang="en-US" sz="2800" dirty="0"/>
          </a:p>
          <a:p>
            <a:pPr>
              <a:defRPr/>
            </a:pPr>
            <a:r>
              <a:rPr lang="en-US" sz="2800" dirty="0"/>
              <a:t>The new class </a:t>
            </a:r>
            <a:r>
              <a:rPr lang="en-US" sz="2800" b="1" dirty="0">
                <a:solidFill>
                  <a:schemeClr val="accent3"/>
                </a:solidFill>
              </a:rPr>
              <a:t>inherits</a:t>
            </a:r>
            <a:r>
              <a:rPr lang="en-US" sz="2800" dirty="0"/>
              <a:t> from the existing one:</a:t>
            </a:r>
          </a:p>
          <a:p>
            <a:pPr lvl="1">
              <a:defRPr/>
            </a:pPr>
            <a:r>
              <a:rPr lang="en-US" sz="2400" dirty="0"/>
              <a:t>all methods</a:t>
            </a:r>
          </a:p>
          <a:p>
            <a:pPr lvl="1">
              <a:defRPr/>
            </a:pPr>
            <a:r>
              <a:rPr lang="en-US" sz="2400" dirty="0"/>
              <a:t>all instance fields</a:t>
            </a:r>
          </a:p>
        </p:txBody>
      </p:sp>
      <p:sp>
        <p:nvSpPr>
          <p:cNvPr id="7" name="Rectangle 9"/>
          <p:cNvSpPr>
            <a:spLocks/>
          </p:cNvSpPr>
          <p:nvPr/>
        </p:nvSpPr>
        <p:spPr bwMode="auto">
          <a:xfrm>
            <a:off x="8432800" y="6334564"/>
            <a:ext cx="558800" cy="4191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sz="1800">
                <a:solidFill>
                  <a:schemeClr val="bg1"/>
                </a:solidFill>
                <a:cs typeface="Arial" pitchFamily="34" charset="0"/>
                <a:sym typeface="Arial" pitchFamily="34" charset="0"/>
              </a:rPr>
              <a:t>Q1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Examples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sz="2400" b="1" dirty="0">
                <a:latin typeface="Lucida Sans Typewriter" pitchFamily="49" charset="0"/>
              </a:rPr>
              <a:t>class </a:t>
            </a:r>
            <a:r>
              <a:rPr lang="en-US" sz="2400" b="1" dirty="0" err="1">
                <a:latin typeface="Lucida Sans Typewriter" pitchFamily="49" charset="0"/>
              </a:rPr>
              <a:t>SavingsAccount</a:t>
            </a:r>
            <a:r>
              <a:rPr lang="en-US" sz="2400" b="1" dirty="0">
                <a:latin typeface="Lucida Sans Typewriter" pitchFamily="49" charset="0"/>
              </a:rPr>
              <a:t> extends </a:t>
            </a:r>
            <a:r>
              <a:rPr lang="en-US" sz="2400" b="1" dirty="0" err="1">
                <a:latin typeface="Lucida Sans Typewriter" pitchFamily="49" charset="0"/>
              </a:rPr>
              <a:t>BankAccount</a:t>
            </a:r>
            <a:endParaRPr lang="en-US" sz="2400" b="1" dirty="0">
              <a:latin typeface="Lucida Sans Typewriter" pitchFamily="49" charset="0"/>
            </a:endParaRPr>
          </a:p>
          <a:p>
            <a:pPr lvl="1">
              <a:defRPr/>
            </a:pPr>
            <a:r>
              <a:rPr lang="en-US" dirty="0" err="1"/>
              <a:t>SavingsAccount</a:t>
            </a:r>
            <a:r>
              <a:rPr lang="en-US" dirty="0"/>
              <a:t> adds interest earning, keeps other traits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r>
              <a:rPr lang="en-US" sz="2400" b="1" dirty="0">
                <a:latin typeface="Lucida Sans Typewriter" pitchFamily="49" charset="0"/>
              </a:rPr>
              <a:t>class Employee extends Person</a:t>
            </a:r>
          </a:p>
          <a:p>
            <a:pPr lvl="1">
              <a:defRPr/>
            </a:pPr>
            <a:r>
              <a:rPr lang="en-US" dirty="0"/>
              <a:t>Employee adds pay information and methods, keeps other traits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r>
              <a:rPr lang="en-US" sz="2400" b="1" dirty="0">
                <a:latin typeface="Lucida Sans Typewriter" pitchFamily="49" charset="0"/>
              </a:rPr>
              <a:t>class Manager extends Employee</a:t>
            </a:r>
          </a:p>
          <a:p>
            <a:pPr lvl="1">
              <a:defRPr/>
            </a:pPr>
            <a:r>
              <a:rPr lang="en-US" dirty="0"/>
              <a:t>Manager adds information about employees managed, changes the pay mechanism, keeps other traits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Notation and Terminology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001000" cy="452596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SavingsAccount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BankAccount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b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//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fields</a:t>
            </a:r>
            <a:b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//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methods</a:t>
            </a:r>
            <a:b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/>
              <a:t>Say “</a:t>
            </a:r>
            <a:r>
              <a:rPr lang="en-US" sz="2400" dirty="0" err="1">
                <a:latin typeface="Lucida Sans Typewriter" pitchFamily="49" charset="0"/>
              </a:rPr>
              <a:t>SavingsAccount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accent3"/>
                </a:solidFill>
              </a:rPr>
              <a:t>is a</a:t>
            </a:r>
            <a:r>
              <a:rPr lang="en-US" sz="2400" dirty="0"/>
              <a:t> </a:t>
            </a:r>
            <a:r>
              <a:rPr lang="en-US" sz="2400" dirty="0" err="1">
                <a:latin typeface="Lucida Sans Typewriter" pitchFamily="49" charset="0"/>
              </a:rPr>
              <a:t>BankAccount</a:t>
            </a:r>
            <a:r>
              <a:rPr lang="en-US" sz="2400" dirty="0"/>
              <a:t>”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b="1" dirty="0">
                <a:solidFill>
                  <a:schemeClr val="accent3"/>
                </a:solidFill>
              </a:rPr>
              <a:t>Superclass</a:t>
            </a:r>
            <a:r>
              <a:rPr lang="en-US" sz="2400" dirty="0"/>
              <a:t>: </a:t>
            </a:r>
            <a:r>
              <a:rPr lang="en-US" sz="2400" dirty="0" err="1">
                <a:latin typeface="Lucida Sans Typewriter" pitchFamily="49" charset="0"/>
              </a:rPr>
              <a:t>BankAccount</a:t>
            </a:r>
            <a:endParaRPr lang="en-US" sz="2400" dirty="0">
              <a:latin typeface="Lucida Sans Typewriter" pitchFamily="49" charset="0"/>
            </a:endParaRPr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b="1" dirty="0">
                <a:solidFill>
                  <a:schemeClr val="accent3"/>
                </a:solidFill>
              </a:rPr>
              <a:t>Subclass</a:t>
            </a:r>
            <a:r>
              <a:rPr lang="en-US" sz="2400" dirty="0"/>
              <a:t>: </a:t>
            </a:r>
            <a:r>
              <a:rPr lang="en-US" sz="2400" dirty="0" err="1">
                <a:latin typeface="Lucida Sans Typewriter" pitchFamily="49" charset="0"/>
              </a:rPr>
              <a:t>SavingsAccount</a:t>
            </a:r>
            <a:endParaRPr lang="en-US" sz="2400" dirty="0">
              <a:latin typeface="Lucida Sans Typewriter" pitchFamily="49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CF6C5A2-8459-8A48-BD1F-6D03763E33B0}"/>
              </a:ext>
            </a:extLst>
          </p:cNvPr>
          <p:cNvSpPr/>
          <p:nvPr/>
        </p:nvSpPr>
        <p:spPr>
          <a:xfrm>
            <a:off x="5355771" y="1502229"/>
            <a:ext cx="2002972" cy="3374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30ADCA63-E0C6-0E4A-956A-A8AB26E5CF24}"/>
              </a:ext>
            </a:extLst>
          </p:cNvPr>
          <p:cNvSpPr/>
          <p:nvPr/>
        </p:nvSpPr>
        <p:spPr>
          <a:xfrm>
            <a:off x="4822371" y="1926771"/>
            <a:ext cx="2779653" cy="2601686"/>
          </a:xfrm>
          <a:custGeom>
            <a:avLst/>
            <a:gdLst>
              <a:gd name="connsiteX0" fmla="*/ 0 w 2779653"/>
              <a:gd name="connsiteY0" fmla="*/ 2601686 h 2601686"/>
              <a:gd name="connsiteX1" fmla="*/ 2623458 w 2779653"/>
              <a:gd name="connsiteY1" fmla="*/ 1992086 h 2601686"/>
              <a:gd name="connsiteX2" fmla="*/ 2253343 w 2779653"/>
              <a:gd name="connsiteY2" fmla="*/ 0 h 2601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79653" h="2601686">
                <a:moveTo>
                  <a:pt x="0" y="2601686"/>
                </a:moveTo>
                <a:cubicBezTo>
                  <a:pt x="1123950" y="2513693"/>
                  <a:pt x="2247901" y="2425700"/>
                  <a:pt x="2623458" y="1992086"/>
                </a:cubicBezTo>
                <a:cubicBezTo>
                  <a:pt x="2999015" y="1558472"/>
                  <a:pt x="2626179" y="779236"/>
                  <a:pt x="2253343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43A7FA-442F-D24D-B39A-B7799943AA68}"/>
              </a:ext>
            </a:extLst>
          </p:cNvPr>
          <p:cNvCxnSpPr/>
          <p:nvPr/>
        </p:nvCxnSpPr>
        <p:spPr>
          <a:xfrm>
            <a:off x="991471" y="4642539"/>
            <a:ext cx="533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DC9713-03CE-1441-B0ED-EFA2E3AD9420}"/>
              </a:ext>
            </a:extLst>
          </p:cNvPr>
          <p:cNvCxnSpPr/>
          <p:nvPr/>
        </p:nvCxnSpPr>
        <p:spPr>
          <a:xfrm>
            <a:off x="917447" y="5489012"/>
            <a:ext cx="533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344648E-AC02-2E40-99EB-7ABC505C9F22}"/>
              </a:ext>
            </a:extLst>
          </p:cNvPr>
          <p:cNvSpPr/>
          <p:nvPr/>
        </p:nvSpPr>
        <p:spPr>
          <a:xfrm>
            <a:off x="1523999" y="1513115"/>
            <a:ext cx="2471057" cy="3374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0187544D-F11F-694E-AB7E-DA44E5A3FF67}"/>
              </a:ext>
            </a:extLst>
          </p:cNvPr>
          <p:cNvSpPr/>
          <p:nvPr/>
        </p:nvSpPr>
        <p:spPr>
          <a:xfrm>
            <a:off x="111536" y="1861457"/>
            <a:ext cx="2250664" cy="4037262"/>
          </a:xfrm>
          <a:custGeom>
            <a:avLst/>
            <a:gdLst>
              <a:gd name="connsiteX0" fmla="*/ 2250664 w 2250664"/>
              <a:gd name="connsiteY0" fmla="*/ 3690257 h 4037262"/>
              <a:gd name="connsiteX1" fmla="*/ 802864 w 2250664"/>
              <a:gd name="connsiteY1" fmla="*/ 4016829 h 4037262"/>
              <a:gd name="connsiteX2" fmla="*/ 127950 w 2250664"/>
              <a:gd name="connsiteY2" fmla="*/ 3167743 h 4037262"/>
              <a:gd name="connsiteX3" fmla="*/ 117064 w 2250664"/>
              <a:gd name="connsiteY3" fmla="*/ 816429 h 4037262"/>
              <a:gd name="connsiteX4" fmla="*/ 1347150 w 2250664"/>
              <a:gd name="connsiteY4" fmla="*/ 0 h 4037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0664" h="4037262">
                <a:moveTo>
                  <a:pt x="2250664" y="3690257"/>
                </a:moveTo>
                <a:cubicBezTo>
                  <a:pt x="1703657" y="3897086"/>
                  <a:pt x="1156650" y="4103915"/>
                  <a:pt x="802864" y="4016829"/>
                </a:cubicBezTo>
                <a:cubicBezTo>
                  <a:pt x="449078" y="3929743"/>
                  <a:pt x="242250" y="3701143"/>
                  <a:pt x="127950" y="3167743"/>
                </a:cubicBezTo>
                <a:cubicBezTo>
                  <a:pt x="13650" y="2634343"/>
                  <a:pt x="-86136" y="1344386"/>
                  <a:pt x="117064" y="816429"/>
                </a:cubicBezTo>
                <a:cubicBezTo>
                  <a:pt x="320264" y="288472"/>
                  <a:pt x="833707" y="144236"/>
                  <a:pt x="134715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Inheritance in UML</a:t>
            </a:r>
          </a:p>
        </p:txBody>
      </p:sp>
      <p:pic>
        <p:nvPicPr>
          <p:cNvPr id="14339" name="Picture 2" descr="C:\DOCUME~1\ADMINI~1\LOCALS~1\Temp\VMwareDnD\00002d81\Inheritanc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2168253"/>
            <a:ext cx="3200400" cy="406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Line Callout 2 4"/>
          <p:cNvSpPr/>
          <p:nvPr/>
        </p:nvSpPr>
        <p:spPr>
          <a:xfrm>
            <a:off x="5622870" y="1143000"/>
            <a:ext cx="2817813" cy="123398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83944"/>
              <a:gd name="adj6" fmla="val -3456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/>
              <a:t>Class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lang="en-US" sz="2400"/>
              <a:t> is the “</a:t>
            </a:r>
            <a:r>
              <a:rPr lang="en-US" sz="2400" err="1"/>
              <a:t>superest</a:t>
            </a:r>
            <a:r>
              <a:rPr lang="en-US" sz="2400"/>
              <a:t>” class in Java</a:t>
            </a:r>
          </a:p>
        </p:txBody>
      </p:sp>
      <p:sp>
        <p:nvSpPr>
          <p:cNvPr id="6" name="Line Callout 2 5"/>
          <p:cNvSpPr/>
          <p:nvPr/>
        </p:nvSpPr>
        <p:spPr>
          <a:xfrm>
            <a:off x="6400800" y="5045460"/>
            <a:ext cx="2499360" cy="8382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33771"/>
              <a:gd name="adj6" fmla="val -752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/>
              <a:t>Still means “is a”</a:t>
            </a:r>
          </a:p>
        </p:txBody>
      </p:sp>
      <p:sp>
        <p:nvSpPr>
          <p:cNvPr id="7" name="Line Callout 2 6"/>
          <p:cNvSpPr/>
          <p:nvPr/>
        </p:nvSpPr>
        <p:spPr>
          <a:xfrm flipH="1">
            <a:off x="486103" y="4319588"/>
            <a:ext cx="2133600" cy="130016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2684"/>
              <a:gd name="adj6" fmla="val -9024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/>
              <a:t>Solid line shows inheritance</a:t>
            </a:r>
          </a:p>
        </p:txBody>
      </p:sp>
      <p:sp>
        <p:nvSpPr>
          <p:cNvPr id="9" name="Rectangle 9"/>
          <p:cNvSpPr>
            <a:spLocks/>
          </p:cNvSpPr>
          <p:nvPr/>
        </p:nvSpPr>
        <p:spPr bwMode="auto">
          <a:xfrm>
            <a:off x="8432800" y="6334564"/>
            <a:ext cx="558800" cy="4191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sz="1800">
                <a:solidFill>
                  <a:schemeClr val="bg1"/>
                </a:solidFill>
                <a:cs typeface="Arial" pitchFamily="34" charset="0"/>
                <a:sym typeface="Arial" pitchFamily="34" charset="0"/>
              </a:rPr>
              <a:t>Q2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lantUML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727008"/>
            <a:ext cx="3352800" cy="4272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Look at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BankAccount</a:t>
            </a:r>
            <a:r>
              <a:rPr lang="en-US" sz="2000" dirty="0"/>
              <a:t> (Superclass)</a:t>
            </a:r>
            <a:br>
              <a:rPr lang="en-US" dirty="0"/>
            </a:br>
            <a:endParaRPr lang="en-US" sz="2400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SavingsAccount</a:t>
            </a:r>
            <a:r>
              <a:rPr lang="en-US" dirty="0"/>
              <a:t> </a:t>
            </a:r>
            <a:r>
              <a:rPr lang="en-US" sz="2000" dirty="0"/>
              <a:t>(Subclass)</a:t>
            </a:r>
          </a:p>
          <a:p>
            <a:endParaRPr lang="en-US" dirty="0"/>
          </a:p>
          <a:p>
            <a:r>
              <a:rPr lang="en-US" dirty="0">
                <a:hlinkClick r:id="rId4"/>
              </a:rPr>
              <a:t>Plantuml source</a:t>
            </a:r>
            <a:endParaRPr lang="en-US" dirty="0"/>
          </a:p>
          <a:p>
            <a:pPr marL="457200" lvl="1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SavingsAccount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-up-|&gt;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BankAccount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913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289" y="-567812"/>
            <a:ext cx="2916749" cy="30723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900" dirty="0"/>
              <a:t>Structure </a:t>
            </a:r>
            <a:br>
              <a:rPr lang="en-US" sz="4900" dirty="0"/>
            </a:br>
            <a:r>
              <a:rPr lang="en-US" sz="4900" dirty="0"/>
              <a:t>View in IntelliJ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924561D-756D-410B-973A-E68C2552C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5" name="Rectangle 64">
              <a:extLst>
                <a:ext uri="{FF2B5EF4-FFF2-40B4-BE49-F238E27FC236}">
                  <a16:creationId xmlns:a16="http://schemas.microsoft.com/office/drawing/2014/main" id="{77AF0971-0074-4E4E-9318-C1990C6FF2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66">
              <a:extLst>
                <a:ext uri="{FF2B5EF4-FFF2-40B4-BE49-F238E27FC236}">
                  <a16:creationId xmlns:a16="http://schemas.microsoft.com/office/drawing/2014/main" id="{0849707A-24B1-45E4-8493-5DC15C578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64">
              <a:extLst>
                <a:ext uri="{FF2B5EF4-FFF2-40B4-BE49-F238E27FC236}">
                  <a16:creationId xmlns:a16="http://schemas.microsoft.com/office/drawing/2014/main" id="{E0FFD705-F03C-46B0-ABB9-3C24E0931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66">
              <a:extLst>
                <a:ext uri="{FF2B5EF4-FFF2-40B4-BE49-F238E27FC236}">
                  <a16:creationId xmlns:a16="http://schemas.microsoft.com/office/drawing/2014/main" id="{520B12C0-88D0-4F6F-9F29-38E4D1D610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DEDD5A45-3641-4FE7-8375-EECF2DC9D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89BF55CA-60FC-479D-A85E-48626FC13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5AFBE5BF-E87A-408F-BBBD-44C3D04C0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1C27CF92-D148-45C8-88B6-F450B63DF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51CA2232-D147-480C-B1EE-665EE6ACC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7E67D92D-1CA9-43CE-8150-DF504F2BF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7B273169-B674-4C50-A14D-A943B9979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DF6183FA-653E-4533-9A0B-D249EC0B1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A82EFE58-AAB0-4925-A176-6FF36BF87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3122AE75-4DBB-4E14-B0CA-DD1EAD89CE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4ED7E672-90FC-4E8C-9C43-3AAE391C6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A5C0019E-5136-4C5E-A223-1E1717FD47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29705F60-CFE6-47C5-96E5-05E7731FC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090E047C-18BC-4180-8D10-9F18F517BA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A153194A-C8B1-46DB-9C6B-9847B06FAE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5C0235EA-4E98-43EA-9AAE-2BD893DEA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650"/>
            <a:ext cx="455228" cy="3624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A2A3EB-6EE0-52D1-EDE7-C30AB3011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101" y="609206"/>
            <a:ext cx="4867954" cy="56395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01DBD0-1A3E-7105-35E5-F5A5A2F067F9}"/>
              </a:ext>
            </a:extLst>
          </p:cNvPr>
          <p:cNvSpPr txBox="1"/>
          <p:nvPr/>
        </p:nvSpPr>
        <p:spPr>
          <a:xfrm>
            <a:off x="861997" y="2545950"/>
            <a:ext cx="2685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optionally show </a:t>
            </a:r>
            <a:br>
              <a:rPr lang="en-US" dirty="0"/>
            </a:br>
            <a:r>
              <a:rPr lang="en-US" dirty="0"/>
              <a:t>inherited fields/methods: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4D834E-D9DB-916F-E3B8-ED38695E5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55" y="3233650"/>
            <a:ext cx="2791215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918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Interfaces vs. Inheritance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2000" b="1" dirty="0">
                <a:latin typeface="Lucida Sans Typewriter" pitchFamily="49" charset="0"/>
              </a:rPr>
              <a:t>class </a:t>
            </a:r>
            <a:r>
              <a:rPr lang="en-US" sz="2000" b="1" dirty="0" err="1">
                <a:latin typeface="Lucida Sans Typewriter" pitchFamily="49" charset="0"/>
              </a:rPr>
              <a:t>ClickHandler</a:t>
            </a:r>
            <a:r>
              <a:rPr lang="en-US" sz="2000" b="1" dirty="0">
                <a:latin typeface="Lucida Sans Typewriter" pitchFamily="49" charset="0"/>
              </a:rPr>
              <a:t> </a:t>
            </a:r>
            <a:r>
              <a:rPr lang="en-US" sz="2000" b="1" dirty="0">
                <a:solidFill>
                  <a:schemeClr val="accent3"/>
                </a:solidFill>
                <a:latin typeface="Lucida Sans Typewriter" pitchFamily="49" charset="0"/>
              </a:rPr>
              <a:t>implements</a:t>
            </a:r>
            <a:r>
              <a:rPr lang="en-US" sz="2000" b="1" dirty="0">
                <a:latin typeface="Lucida Sans Typewriter" pitchFamily="49" charset="0"/>
              </a:rPr>
              <a:t> </a:t>
            </a:r>
            <a:r>
              <a:rPr lang="en-US" sz="2000" b="1" dirty="0" err="1">
                <a:latin typeface="Lucida Sans Typewriter" pitchFamily="49" charset="0"/>
              </a:rPr>
              <a:t>MouseListener</a:t>
            </a:r>
            <a:endParaRPr lang="en-US" sz="2400" dirty="0"/>
          </a:p>
          <a:p>
            <a:pPr marL="406400" lvl="1" indent="-280988">
              <a:defRPr/>
            </a:pPr>
            <a:r>
              <a:rPr lang="en-US" sz="2400" dirty="0" err="1"/>
              <a:t>ClickHandler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accent3"/>
                </a:solidFill>
              </a:rPr>
              <a:t>promises</a:t>
            </a:r>
            <a:r>
              <a:rPr lang="en-US" sz="2400" dirty="0"/>
              <a:t> to implement all the methods of </a:t>
            </a:r>
            <a:r>
              <a:rPr lang="en-US" sz="2400" dirty="0" err="1"/>
              <a:t>MouseListener</a:t>
            </a:r>
            <a:endParaRPr lang="en-US" sz="2400" dirty="0"/>
          </a:p>
          <a:p>
            <a:pPr>
              <a:defRPr/>
            </a:pPr>
            <a:endParaRPr lang="en-US" sz="2800" dirty="0"/>
          </a:p>
          <a:p>
            <a:pPr marL="0" indent="0">
              <a:buNone/>
              <a:defRPr/>
            </a:pPr>
            <a:endParaRPr lang="en-US" sz="2000" b="1" dirty="0">
              <a:latin typeface="Lucida Sans Typewriter" pitchFamily="49" charset="0"/>
            </a:endParaRPr>
          </a:p>
          <a:p>
            <a:pPr marL="0" indent="0">
              <a:buNone/>
              <a:defRPr/>
            </a:pPr>
            <a:endParaRPr lang="en-US" sz="2000" b="1" dirty="0">
              <a:latin typeface="Lucida Sans Typewriter" pitchFamily="49" charset="0"/>
            </a:endParaRPr>
          </a:p>
          <a:p>
            <a:pPr marL="0" indent="0">
              <a:buNone/>
              <a:defRPr/>
            </a:pPr>
            <a:r>
              <a:rPr lang="en-US" sz="2000" b="1" dirty="0">
                <a:latin typeface="Lucida Sans Typewriter" pitchFamily="49" charset="0"/>
              </a:rPr>
              <a:t>class </a:t>
            </a:r>
            <a:r>
              <a:rPr lang="en-US" sz="2000" b="1" dirty="0" err="1">
                <a:latin typeface="Lucida Sans Typewriter" pitchFamily="49" charset="0"/>
              </a:rPr>
              <a:t>CheckingAccount</a:t>
            </a:r>
            <a:r>
              <a:rPr lang="en-US" sz="2000" b="1" dirty="0">
                <a:latin typeface="Lucida Sans Typewriter" pitchFamily="49" charset="0"/>
              </a:rPr>
              <a:t> </a:t>
            </a:r>
            <a:r>
              <a:rPr lang="en-US" sz="2000" b="1" dirty="0">
                <a:solidFill>
                  <a:schemeClr val="accent3"/>
                </a:solidFill>
                <a:latin typeface="Lucida Sans Typewriter" pitchFamily="49" charset="0"/>
              </a:rPr>
              <a:t>extends</a:t>
            </a:r>
            <a:r>
              <a:rPr lang="en-US" sz="2000" b="1" dirty="0">
                <a:latin typeface="Lucida Sans Typewriter" pitchFamily="49" charset="0"/>
              </a:rPr>
              <a:t> </a:t>
            </a:r>
            <a:r>
              <a:rPr lang="en-US" sz="2000" b="1" dirty="0" err="1">
                <a:latin typeface="Lucida Sans Typewriter" pitchFamily="49" charset="0"/>
              </a:rPr>
              <a:t>BankAccount</a:t>
            </a:r>
            <a:endParaRPr lang="en-US" sz="2400" dirty="0"/>
          </a:p>
          <a:p>
            <a:pPr marL="406400" lvl="1" indent="-280988">
              <a:defRPr/>
            </a:pPr>
            <a:r>
              <a:rPr lang="en-US" sz="2400" dirty="0" err="1"/>
              <a:t>CheckingAccount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accent3"/>
                </a:solidFill>
              </a:rPr>
              <a:t>inherits</a:t>
            </a:r>
            <a:r>
              <a:rPr lang="en-US" sz="2400" dirty="0"/>
              <a:t> (or overrides) all the methods of </a:t>
            </a:r>
            <a:r>
              <a:rPr lang="en-US" sz="2400" dirty="0" err="1"/>
              <a:t>BankAccount</a:t>
            </a:r>
            <a:endParaRPr lang="en-US" sz="2400" dirty="0"/>
          </a:p>
        </p:txBody>
      </p:sp>
      <p:sp>
        <p:nvSpPr>
          <p:cNvPr id="4" name="Line Callout 2 3"/>
          <p:cNvSpPr/>
          <p:nvPr/>
        </p:nvSpPr>
        <p:spPr>
          <a:xfrm>
            <a:off x="2895600" y="2814511"/>
            <a:ext cx="3352800" cy="8519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/>
              <a:t>For </a:t>
            </a:r>
            <a:r>
              <a:rPr lang="en-US" sz="2400" b="1" u="sng" dirty="0"/>
              <a:t>client</a:t>
            </a:r>
            <a:r>
              <a:rPr lang="en-US" sz="2400" dirty="0"/>
              <a:t> code reuse</a:t>
            </a:r>
          </a:p>
          <a:p>
            <a:pPr algn="ctr">
              <a:defRPr/>
            </a:pPr>
            <a:r>
              <a:rPr lang="en-US" sz="2400" dirty="0"/>
              <a:t>i.e., </a:t>
            </a:r>
            <a:r>
              <a:rPr lang="en-US" sz="2400" i="1" dirty="0"/>
              <a:t>what it does</a:t>
            </a:r>
            <a:r>
              <a:rPr lang="en-US" sz="2400" dirty="0"/>
              <a:t> reuse</a:t>
            </a:r>
          </a:p>
        </p:txBody>
      </p:sp>
      <p:sp>
        <p:nvSpPr>
          <p:cNvPr id="5" name="Line Callout 2 4"/>
          <p:cNvSpPr/>
          <p:nvPr/>
        </p:nvSpPr>
        <p:spPr>
          <a:xfrm>
            <a:off x="2171700" y="5564378"/>
            <a:ext cx="48006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/>
              <a:t>For </a:t>
            </a:r>
            <a:r>
              <a:rPr lang="en-US" sz="2400" b="1" u="sng" dirty="0"/>
              <a:t>implementation</a:t>
            </a:r>
            <a:r>
              <a:rPr lang="en-US" sz="2400" b="1" dirty="0"/>
              <a:t> </a:t>
            </a:r>
            <a:r>
              <a:rPr lang="en-US" sz="2400" dirty="0"/>
              <a:t>code reuse</a:t>
            </a:r>
          </a:p>
          <a:p>
            <a:pPr algn="ctr">
              <a:defRPr/>
            </a:pPr>
            <a:r>
              <a:rPr lang="en-US" sz="2400" dirty="0"/>
              <a:t>i.e., </a:t>
            </a:r>
            <a:r>
              <a:rPr lang="en-US" sz="2400" i="1" dirty="0"/>
              <a:t>how it does it  </a:t>
            </a:r>
            <a:r>
              <a:rPr lang="en-US" sz="2400" dirty="0"/>
              <a:t>code reuse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Inheritance Run Amok?</a:t>
            </a:r>
          </a:p>
        </p:txBody>
      </p:sp>
      <p:pic>
        <p:nvPicPr>
          <p:cNvPr id="16387" name="Picture 3" descr="C:\DOCUME~1\ADMINI~1\LOCALS~1\Temp\VMwareDnD\00003a70\InheritanceAmok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7650" y="1143000"/>
            <a:ext cx="86487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For methods, subclasses can: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>
                <a:solidFill>
                  <a:schemeClr val="accent3"/>
                </a:solidFill>
              </a:rPr>
              <a:t>Inherit</a:t>
            </a:r>
            <a:r>
              <a:rPr lang="en-US"/>
              <a:t> methods </a:t>
            </a:r>
            <a:r>
              <a:rPr lang="en-US">
                <a:solidFill>
                  <a:schemeClr val="accent3"/>
                </a:solidFill>
              </a:rPr>
              <a:t>unchanged</a:t>
            </a:r>
            <a:endParaRPr lang="en-US"/>
          </a:p>
          <a:p>
            <a:pPr>
              <a:defRPr/>
            </a:pPr>
            <a:r>
              <a:rPr lang="en-US" b="1">
                <a:solidFill>
                  <a:schemeClr val="accent3"/>
                </a:solidFill>
              </a:rPr>
              <a:t>Override</a:t>
            </a:r>
            <a:r>
              <a:rPr lang="en-US"/>
              <a:t> methods</a:t>
            </a:r>
          </a:p>
          <a:p>
            <a:pPr lvl="1">
              <a:defRPr/>
            </a:pPr>
            <a:r>
              <a:rPr lang="en-US"/>
              <a:t>Declare a new method </a:t>
            </a:r>
            <a:r>
              <a:rPr lang="en-US">
                <a:solidFill>
                  <a:schemeClr val="accent3"/>
                </a:solidFill>
              </a:rPr>
              <a:t>with same signature </a:t>
            </a:r>
            <a:r>
              <a:rPr lang="en-US"/>
              <a:t>to use </a:t>
            </a:r>
            <a:r>
              <a:rPr lang="en-US" b="1">
                <a:solidFill>
                  <a:schemeClr val="accent3"/>
                </a:solidFill>
              </a:rPr>
              <a:t>instead of </a:t>
            </a:r>
            <a:r>
              <a:rPr lang="en-US">
                <a:solidFill>
                  <a:schemeClr val="accent3"/>
                </a:solidFill>
              </a:rPr>
              <a:t>superclass method</a:t>
            </a:r>
          </a:p>
          <a:p>
            <a:pPr lvl="1">
              <a:defRPr/>
            </a:pPr>
            <a:r>
              <a:rPr lang="en-US"/>
              <a:t>i.e., change </a:t>
            </a:r>
            <a:r>
              <a:rPr lang="en-US" i="1"/>
              <a:t>how it works</a:t>
            </a:r>
            <a:endParaRPr lang="en-US"/>
          </a:p>
          <a:p>
            <a:pPr>
              <a:defRPr/>
            </a:pPr>
            <a:r>
              <a:rPr lang="en-US" b="1">
                <a:solidFill>
                  <a:schemeClr val="accent3"/>
                </a:solidFill>
              </a:rPr>
              <a:t>Add</a:t>
            </a:r>
            <a:r>
              <a:rPr lang="en-US"/>
              <a:t> entirely new methods not in superclass</a:t>
            </a:r>
          </a:p>
          <a:p>
            <a:pPr lvl="1">
              <a:defRPr/>
            </a:pPr>
            <a:r>
              <a:rPr lang="en-US"/>
              <a:t>i.e., add new </a:t>
            </a:r>
            <a:r>
              <a:rPr lang="en-US" i="1"/>
              <a:t>what it does</a:t>
            </a:r>
            <a:r>
              <a:rPr lang="en-US"/>
              <a:t> &amp; </a:t>
            </a:r>
            <a:r>
              <a:rPr lang="en-US" i="1"/>
              <a:t>how it does it</a:t>
            </a:r>
          </a:p>
          <a:p>
            <a:pPr marL="0" indent="0">
              <a:buNone/>
              <a:defRPr/>
            </a:pPr>
            <a:endParaRPr lang="en-US"/>
          </a:p>
        </p:txBody>
      </p:sp>
      <p:sp>
        <p:nvSpPr>
          <p:cNvPr id="5" name="Rectangle 9"/>
          <p:cNvSpPr>
            <a:spLocks/>
          </p:cNvSpPr>
          <p:nvPr/>
        </p:nvSpPr>
        <p:spPr bwMode="auto">
          <a:xfrm>
            <a:off x="8432800" y="6334564"/>
            <a:ext cx="558800" cy="4191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sz="1800">
                <a:solidFill>
                  <a:schemeClr val="bg1"/>
                </a:solidFill>
                <a:cs typeface="Arial" pitchFamily="34" charset="0"/>
                <a:sym typeface="Arial" pitchFamily="34" charset="0"/>
              </a:rPr>
              <a:t>Q3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For fields, subclasses: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3"/>
                </a:solidFill>
              </a:rPr>
              <a:t>ALWAYS inherit</a:t>
            </a:r>
            <a:r>
              <a:rPr lang="en-US" dirty="0"/>
              <a:t> all fields </a:t>
            </a:r>
            <a:r>
              <a:rPr lang="en-US" dirty="0">
                <a:solidFill>
                  <a:schemeClr val="accent3"/>
                </a:solidFill>
              </a:rPr>
              <a:t>unchanged</a:t>
            </a:r>
          </a:p>
          <a:p>
            <a:pPr lvl="1">
              <a:defRPr/>
            </a:pPr>
            <a:r>
              <a:rPr lang="en-US" dirty="0"/>
              <a:t>But cannot access superclass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dirty="0"/>
              <a:t> fields</a:t>
            </a:r>
          </a:p>
          <a:p>
            <a:pPr lvl="1">
              <a:defRPr/>
            </a:pPr>
            <a:r>
              <a:rPr lang="en-US" dirty="0"/>
              <a:t>Can access directly fields at </a:t>
            </a:r>
            <a:r>
              <a:rPr lang="en-US" i="1" dirty="0"/>
              <a:t>access levels</a:t>
            </a:r>
            <a:r>
              <a:rPr lang="en-US" dirty="0"/>
              <a:t>:</a:t>
            </a:r>
          </a:p>
          <a:p>
            <a:pPr lvl="2">
              <a:defRPr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</a:p>
          <a:p>
            <a:pPr lvl="2">
              <a:defRPr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</a:p>
          <a:p>
            <a:pPr lvl="2">
              <a:defRPr/>
            </a:pPr>
            <a:r>
              <a:rPr lang="en-US" dirty="0"/>
              <a:t>package</a:t>
            </a:r>
          </a:p>
          <a:p>
            <a:pPr>
              <a:defRPr/>
            </a:pPr>
            <a:r>
              <a:rPr lang="en-US" b="1" dirty="0"/>
              <a:t>The subclass </a:t>
            </a:r>
            <a:r>
              <a:rPr lang="en-US" b="1" dirty="0">
                <a:solidFill>
                  <a:schemeClr val="accent3"/>
                </a:solidFill>
              </a:rPr>
              <a:t>can add</a:t>
            </a:r>
            <a:r>
              <a:rPr lang="en-US" dirty="0"/>
              <a:t> entirely new fields not in superclass</a:t>
            </a:r>
          </a:p>
        </p:txBody>
      </p:sp>
      <p:sp>
        <p:nvSpPr>
          <p:cNvPr id="4" name="Line Callout 2 3"/>
          <p:cNvSpPr/>
          <p:nvPr/>
        </p:nvSpPr>
        <p:spPr>
          <a:xfrm>
            <a:off x="2499360" y="5251820"/>
            <a:ext cx="5808617" cy="14478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44142"/>
              <a:gd name="adj6" fmla="val 13720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dirty="0"/>
              <a:t>DANGER!  Don’t use the same field name as a superclass field!</a:t>
            </a:r>
          </a:p>
        </p:txBody>
      </p:sp>
      <p:sp>
        <p:nvSpPr>
          <p:cNvPr id="6" name="Rectangle 9"/>
          <p:cNvSpPr>
            <a:spLocks/>
          </p:cNvSpPr>
          <p:nvPr/>
        </p:nvSpPr>
        <p:spPr bwMode="auto">
          <a:xfrm>
            <a:off x="8432800" y="6334564"/>
            <a:ext cx="558800" cy="4191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sz="1800">
                <a:solidFill>
                  <a:schemeClr val="bg1"/>
                </a:solidFill>
                <a:cs typeface="Arial" pitchFamily="34" charset="0"/>
                <a:sym typeface="Arial" pitchFamily="34" charset="0"/>
              </a:rPr>
              <a:t>Q4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How Subclass calls Superclass Methods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0371" y="1567543"/>
            <a:ext cx="8327571" cy="4525963"/>
          </a:xfrm>
        </p:spPr>
        <p:txBody>
          <a:bodyPr/>
          <a:lstStyle/>
          <a:p>
            <a:pPr>
              <a:defRPr/>
            </a:pPr>
            <a:r>
              <a:rPr lang="en-US" dirty="0"/>
              <a:t>Calling a superclass </a:t>
            </a:r>
            <a:r>
              <a:rPr lang="en-US" b="1" dirty="0">
                <a:solidFill>
                  <a:schemeClr val="accent3"/>
                </a:solidFill>
              </a:rPr>
              <a:t>method </a:t>
            </a:r>
            <a:r>
              <a:rPr lang="en-US" dirty="0"/>
              <a:t>from the subclass:</a:t>
            </a:r>
          </a:p>
          <a:p>
            <a:pPr marL="457200" lvl="1" indent="0">
              <a:buNone/>
              <a:defRPr/>
            </a:pPr>
            <a:r>
              <a:rPr lang="en-US" b="1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super.methodName</a:t>
            </a:r>
            <a:r>
              <a:rPr lang="en-US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Calling superclass </a:t>
            </a:r>
            <a:r>
              <a:rPr lang="en-US" b="1" dirty="0">
                <a:solidFill>
                  <a:schemeClr val="accent3"/>
                </a:solidFill>
              </a:rPr>
              <a:t>constructor</a:t>
            </a:r>
            <a:r>
              <a:rPr lang="en-US" dirty="0"/>
              <a:t>:</a:t>
            </a:r>
          </a:p>
          <a:p>
            <a:pPr marL="457200" lvl="1" indent="0">
              <a:buNone/>
              <a:defRPr/>
            </a:pPr>
            <a:r>
              <a:rPr lang="en-US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super(</a:t>
            </a:r>
            <a:r>
              <a:rPr lang="en-US" b="1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4" name="Line Callout 2 3"/>
          <p:cNvSpPr/>
          <p:nvPr/>
        </p:nvSpPr>
        <p:spPr>
          <a:xfrm>
            <a:off x="4182291" y="5547164"/>
            <a:ext cx="3903068" cy="1206500"/>
          </a:xfrm>
          <a:prstGeom prst="borderCallout2">
            <a:avLst>
              <a:gd name="adj1" fmla="val 27579"/>
              <a:gd name="adj2" fmla="val -1170"/>
              <a:gd name="adj3" fmla="val -21758"/>
              <a:gd name="adj4" fmla="val -18637"/>
              <a:gd name="adj5" fmla="val -29071"/>
              <a:gd name="adj6" fmla="val -207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/>
              <a:t>Must appear as the first line of the subclass constructor</a:t>
            </a:r>
          </a:p>
        </p:txBody>
      </p:sp>
      <p:sp>
        <p:nvSpPr>
          <p:cNvPr id="6" name="Rectangle 9"/>
          <p:cNvSpPr>
            <a:spLocks/>
          </p:cNvSpPr>
          <p:nvPr/>
        </p:nvSpPr>
        <p:spPr bwMode="auto">
          <a:xfrm>
            <a:off x="8432800" y="6334564"/>
            <a:ext cx="558800" cy="4191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sz="1800">
                <a:solidFill>
                  <a:schemeClr val="bg1"/>
                </a:solidFill>
                <a:cs typeface="Arial" pitchFamily="34" charset="0"/>
                <a:sym typeface="Arial" pitchFamily="34" charset="0"/>
              </a:rPr>
              <a:t>Q5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Code </a:t>
            </a:r>
            <a:r>
              <a:rPr lang="en-US" err="1"/>
              <a:t>CheckingAccount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A special type of </a:t>
            </a:r>
            <a:r>
              <a:rPr lang="en-US" sz="2400" dirty="0" err="1"/>
              <a:t>BankAccount</a:t>
            </a:r>
            <a:endParaRPr lang="en-US" sz="2400" dirty="0"/>
          </a:p>
          <a:p>
            <a:r>
              <a:rPr lang="en-US" sz="2400" dirty="0"/>
              <a:t>Has 3 free transactions each month </a:t>
            </a:r>
            <a:br>
              <a:rPr lang="en-US" sz="2400" dirty="0"/>
            </a:br>
            <a:r>
              <a:rPr lang="en-US" sz="2400" dirty="0"/>
              <a:t>Transactions that </a:t>
            </a:r>
            <a:r>
              <a:rPr lang="en-US" sz="2400"/>
              <a:t>are counted:</a:t>
            </a:r>
            <a:endParaRPr lang="en-US" sz="2400" dirty="0"/>
          </a:p>
          <a:p>
            <a:pPr lvl="1"/>
            <a:r>
              <a:rPr lang="en-US" sz="2000" dirty="0"/>
              <a:t>Withdraw</a:t>
            </a:r>
          </a:p>
          <a:p>
            <a:pPr lvl="1"/>
            <a:r>
              <a:rPr lang="en-US" sz="2000" dirty="0"/>
              <a:t>Deposit</a:t>
            </a:r>
          </a:p>
          <a:p>
            <a:r>
              <a:rPr lang="en-US" sz="2400" dirty="0"/>
              <a:t>Every additional transaction (beyond) costs $1.50</a:t>
            </a:r>
          </a:p>
          <a:p>
            <a:pPr lvl="1"/>
            <a:r>
              <a:rPr lang="en-US" sz="2000" dirty="0"/>
              <a:t>4 cost $1.50</a:t>
            </a:r>
          </a:p>
          <a:p>
            <a:pPr lvl="1"/>
            <a:r>
              <a:rPr lang="en-US" sz="2000" dirty="0"/>
              <a:t>5 cost $3.00</a:t>
            </a:r>
          </a:p>
          <a:p>
            <a:r>
              <a:rPr lang="en-US" sz="2400" dirty="0"/>
              <a:t>At end of each month fees are deducted (all together)</a:t>
            </a:r>
          </a:p>
          <a:p>
            <a:pPr lvl="1"/>
            <a:r>
              <a:rPr lang="en-US" sz="2000" dirty="0"/>
              <a:t>Transaction count is reset at this time</a:t>
            </a:r>
          </a:p>
          <a:p>
            <a:pPr lvl="1"/>
            <a:r>
              <a:rPr lang="en-US" sz="2000" dirty="0"/>
              <a:t>Add new public method to </a:t>
            </a:r>
            <a:r>
              <a:rPr lang="en-US" sz="2000" dirty="0" err="1"/>
              <a:t>CheckingAccount</a:t>
            </a:r>
            <a:r>
              <a:rPr lang="en-US" sz="2000" dirty="0"/>
              <a:t> called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deductFees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000348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then Implement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dirty="0">
                <a:hlinkClick r:id="rId3"/>
              </a:rPr>
              <a:t>plantuml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CBCA8B7-839A-6B48-9A15-D29E72AB46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5000" y="1419225"/>
            <a:ext cx="6788364" cy="482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646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Polymorphism and Subclasses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subclass instance </a:t>
            </a:r>
            <a:r>
              <a:rPr lang="en-US" b="1" i="1" dirty="0"/>
              <a:t>is a</a:t>
            </a:r>
            <a:r>
              <a:rPr lang="en-US" dirty="0"/>
              <a:t> superclass instance</a:t>
            </a:r>
          </a:p>
          <a:p>
            <a:pPr lvl="1">
              <a:defRPr/>
            </a:pPr>
            <a:r>
              <a:rPr lang="en-US" dirty="0"/>
              <a:t>Polymorphism still works!</a:t>
            </a:r>
          </a:p>
          <a:p>
            <a:pPr marL="457200" lvl="1" indent="0">
              <a:buNone/>
              <a:defRPr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  <a:defRPr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BankAccount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CheckingAccount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ba.deposit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(100.0);</a:t>
            </a:r>
          </a:p>
          <a:p>
            <a:pPr lvl="1">
              <a:defRPr/>
            </a:pPr>
            <a:r>
              <a:rPr lang="en-US" dirty="0" err="1"/>
              <a:t>BankAccount</a:t>
            </a:r>
            <a:r>
              <a:rPr lang="en-US" dirty="0"/>
              <a:t> is </a:t>
            </a:r>
            <a:r>
              <a:rPr lang="en-US" i="1" dirty="0"/>
              <a:t>declared type</a:t>
            </a:r>
          </a:p>
          <a:p>
            <a:pPr lvl="1">
              <a:defRPr/>
            </a:pPr>
            <a:r>
              <a:rPr lang="en-US" dirty="0" err="1"/>
              <a:t>CheckingAccount</a:t>
            </a:r>
            <a:r>
              <a:rPr lang="en-US" dirty="0"/>
              <a:t> is </a:t>
            </a:r>
            <a:r>
              <a:rPr lang="en-US" i="1" dirty="0"/>
              <a:t>instantiated type</a:t>
            </a:r>
          </a:p>
          <a:p>
            <a:pPr lvl="1">
              <a:defRPr/>
            </a:pPr>
            <a:r>
              <a:rPr lang="en-US" dirty="0"/>
              <a:t>The code above compiles and runs because</a:t>
            </a:r>
            <a:br>
              <a:rPr lang="en-US" dirty="0"/>
            </a:br>
            <a:r>
              <a:rPr lang="en-US" dirty="0" err="1"/>
              <a:t>CheckingAccount</a:t>
            </a:r>
            <a:r>
              <a:rPr lang="en-US" dirty="0"/>
              <a:t> </a:t>
            </a:r>
            <a:r>
              <a:rPr lang="en-US" i="1" dirty="0" err="1"/>
              <a:t>isA</a:t>
            </a:r>
            <a:r>
              <a:rPr lang="en-US" dirty="0"/>
              <a:t> </a:t>
            </a:r>
            <a:r>
              <a:rPr lang="en-US" dirty="0" err="1"/>
              <a:t>BankAccount</a:t>
            </a:r>
            <a:endParaRPr lang="en-US" dirty="0"/>
          </a:p>
        </p:txBody>
      </p:sp>
      <p:sp>
        <p:nvSpPr>
          <p:cNvPr id="7" name="Rectangle 9"/>
          <p:cNvSpPr>
            <a:spLocks/>
          </p:cNvSpPr>
          <p:nvPr/>
        </p:nvSpPr>
        <p:spPr bwMode="auto">
          <a:xfrm>
            <a:off x="8432800" y="6334564"/>
            <a:ext cx="558800" cy="4191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sz="1800">
                <a:solidFill>
                  <a:schemeClr val="bg1"/>
                </a:solidFill>
                <a:cs typeface="Arial" pitchFamily="34" charset="0"/>
                <a:sym typeface="Arial" pitchFamily="34" charset="0"/>
              </a:rPr>
              <a:t>Q6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Polymorphism and Subclasses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00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This code (below) does not work</a:t>
            </a:r>
          </a:p>
          <a:p>
            <a:pPr marL="457200" lvl="1" indent="0">
              <a:buNone/>
              <a:defRPr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CheckingAccount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ca =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BankAccount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ca.deductFees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>
              <a:defRPr/>
            </a:pPr>
            <a:r>
              <a:rPr lang="en-US" dirty="0" err="1"/>
              <a:t>CheckingAccount</a:t>
            </a:r>
            <a:r>
              <a:rPr lang="en-US" dirty="0"/>
              <a:t> is the </a:t>
            </a:r>
            <a:r>
              <a:rPr lang="en-US" i="1" dirty="0"/>
              <a:t>declared type</a:t>
            </a:r>
          </a:p>
          <a:p>
            <a:pPr lvl="1">
              <a:defRPr/>
            </a:pPr>
            <a:r>
              <a:rPr lang="en-US" dirty="0" err="1"/>
              <a:t>BankAccount</a:t>
            </a:r>
            <a:r>
              <a:rPr lang="en-US" dirty="0"/>
              <a:t> is the </a:t>
            </a:r>
            <a:r>
              <a:rPr lang="en-US" i="1" dirty="0"/>
              <a:t>instantiated type</a:t>
            </a:r>
          </a:p>
          <a:p>
            <a:pPr lvl="1">
              <a:defRPr/>
            </a:pPr>
            <a:r>
              <a:rPr lang="en-US" dirty="0"/>
              <a:t>It doesn't compile because </a:t>
            </a:r>
            <a:br>
              <a:rPr lang="en-US" dirty="0"/>
            </a:br>
            <a:r>
              <a:rPr lang="en-US" dirty="0" err="1"/>
              <a:t>BackAccount</a:t>
            </a:r>
            <a:r>
              <a:rPr lang="en-US" dirty="0"/>
              <a:t> </a:t>
            </a:r>
            <a:r>
              <a:rPr lang="en-US" i="1" dirty="0"/>
              <a:t>is-</a:t>
            </a:r>
            <a:r>
              <a:rPr lang="en-US" b="1" i="1" dirty="0"/>
              <a:t>not</a:t>
            </a:r>
            <a:r>
              <a:rPr lang="en-US" i="1" dirty="0"/>
              <a:t>-a</a:t>
            </a:r>
            <a:r>
              <a:rPr lang="en-US" dirty="0"/>
              <a:t> </a:t>
            </a:r>
            <a:r>
              <a:rPr lang="en-US" dirty="0" err="1"/>
              <a:t>CheckingAccount</a:t>
            </a:r>
            <a:endParaRPr lang="en-US" dirty="0"/>
          </a:p>
        </p:txBody>
      </p:sp>
      <p:sp>
        <p:nvSpPr>
          <p:cNvPr id="7" name="Rectangle 9"/>
          <p:cNvSpPr>
            <a:spLocks/>
          </p:cNvSpPr>
          <p:nvPr/>
        </p:nvSpPr>
        <p:spPr bwMode="auto">
          <a:xfrm>
            <a:off x="8432800" y="6334564"/>
            <a:ext cx="558800" cy="4191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sz="1800">
                <a:solidFill>
                  <a:schemeClr val="bg1"/>
                </a:solidFill>
                <a:cs typeface="Arial" pitchFamily="34" charset="0"/>
                <a:sym typeface="Arial" pitchFamily="34" charset="0"/>
              </a:rPr>
              <a:t>Q6</a:t>
            </a:r>
          </a:p>
        </p:txBody>
      </p:sp>
    </p:spTree>
    <p:extLst>
      <p:ext uri="{BB962C8B-B14F-4D97-AF65-F5344CB8AC3E}">
        <p14:creationId xmlns:p14="http://schemas.microsoft.com/office/powerpoint/2010/main" val="1421300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Another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Can use </a:t>
            </a:r>
            <a:r>
              <a:rPr lang="en-US" err="1"/>
              <a:t>BankAccount's</a:t>
            </a:r>
            <a:r>
              <a:rPr lang="en-US"/>
              <a:t> </a:t>
            </a:r>
            <a:r>
              <a:rPr lang="en-US" i="1"/>
              <a:t>transfer</a:t>
            </a:r>
            <a:r>
              <a:rPr lang="en-US"/>
              <a:t> method to transfer between different accounts:</a:t>
            </a:r>
          </a:p>
          <a:p>
            <a:pPr marL="457200" lvl="1" indent="0">
              <a:buNone/>
              <a:defRPr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  <a:defRPr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SavingsAccount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sa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= …;</a:t>
            </a:r>
          </a:p>
          <a:p>
            <a:pPr marL="457200" lvl="1" indent="0">
              <a:buNone/>
              <a:defRPr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CheckingAccount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ca = …;</a:t>
            </a:r>
          </a:p>
          <a:p>
            <a:pPr marL="457200" lvl="1" indent="0">
              <a:buNone/>
              <a:defRPr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sa.transfer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(100, ca);  // </a:t>
            </a:r>
            <a:b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71450" lvl="1" indent="0">
              <a:buNone/>
              <a:defRPr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transfer(double amount,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BankAccount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o){</a:t>
            </a:r>
            <a:b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this.withdraw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(amount);</a:t>
            </a:r>
            <a:b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o.deposit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(amount);</a:t>
            </a:r>
            <a:b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Access Modifiers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>
              <a:tabLst>
                <a:tab pos="3197225" algn="l"/>
              </a:tabLst>
              <a:defRPr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b="1" dirty="0">
                <a:solidFill>
                  <a:schemeClr val="accent3"/>
                </a:solidFill>
                <a:latin typeface="Lucida Sans Typewriter" pitchFamily="49" charset="0"/>
              </a:rPr>
              <a:t>	</a:t>
            </a:r>
            <a:r>
              <a:rPr lang="en-US" dirty="0"/>
              <a:t>any code can see it</a:t>
            </a:r>
          </a:p>
          <a:p>
            <a:pPr lvl="1">
              <a:tabLst>
                <a:tab pos="3197225" algn="l"/>
              </a:tabLst>
              <a:defRPr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dirty="0"/>
              <a:t>	package and subclasses can see it</a:t>
            </a:r>
          </a:p>
          <a:p>
            <a:pPr lvl="1">
              <a:tabLst>
                <a:tab pos="3197225" algn="l"/>
              </a:tabLst>
              <a:defRPr/>
            </a:pPr>
            <a:r>
              <a:rPr lang="en-US" dirty="0">
                <a:cs typeface="Courier New" panose="02070309020205020404" pitchFamily="49" charset="0"/>
              </a:rPr>
              <a:t>default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	anything in the package can see it</a:t>
            </a:r>
            <a:endParaRPr lang="en-US" b="1" dirty="0">
              <a:solidFill>
                <a:schemeClr val="accent3"/>
              </a:solidFill>
              <a:latin typeface="Lucida Sans Typewriter" pitchFamily="49" charset="0"/>
            </a:endParaRPr>
          </a:p>
          <a:p>
            <a:pPr lvl="1">
              <a:tabLst>
                <a:tab pos="3197225" algn="l"/>
              </a:tabLst>
              <a:defRPr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dirty="0"/>
              <a:t>	only the class itself can see it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Notes:</a:t>
            </a:r>
          </a:p>
          <a:p>
            <a:pPr lvl="1">
              <a:defRPr/>
            </a:pPr>
            <a:r>
              <a:rPr lang="en-US" b="1" dirty="0"/>
              <a:t>default</a:t>
            </a:r>
            <a:r>
              <a:rPr lang="en-US" dirty="0"/>
              <a:t> (i.e., modifier missing) — only code </a:t>
            </a:r>
            <a:br>
              <a:rPr lang="en-US" dirty="0"/>
            </a:br>
            <a:r>
              <a:rPr lang="en-US" dirty="0"/>
              <a:t>in the same </a:t>
            </a:r>
            <a:r>
              <a:rPr lang="en-US" b="1" dirty="0">
                <a:solidFill>
                  <a:schemeClr val="accent3"/>
                </a:solidFill>
              </a:rPr>
              <a:t>package</a:t>
            </a:r>
            <a:r>
              <a:rPr lang="en-US" dirty="0"/>
              <a:t> can access it</a:t>
            </a:r>
          </a:p>
          <a:p>
            <a:pPr lvl="2">
              <a:defRPr/>
            </a:pPr>
            <a:r>
              <a:rPr lang="en-US" dirty="0"/>
              <a:t>good choice for classes</a:t>
            </a:r>
          </a:p>
          <a:p>
            <a:pPr lvl="1">
              <a:defRPr/>
            </a:pPr>
            <a:r>
              <a:rPr lang="en-US" b="1" dirty="0">
                <a:solidFill>
                  <a:schemeClr val="accent3"/>
                </a:solidFill>
                <a:latin typeface="Lucida Sans Typewriter" pitchFamily="49" charset="0"/>
              </a:rPr>
              <a:t>Protected </a:t>
            </a:r>
            <a:r>
              <a:rPr lang="en-US" dirty="0"/>
              <a:t>— like default, but </a:t>
            </a:r>
            <a:br>
              <a:rPr lang="en-US" dirty="0"/>
            </a:br>
            <a:r>
              <a:rPr lang="en-US" dirty="0"/>
              <a:t>subclasses also have access</a:t>
            </a:r>
          </a:p>
          <a:p>
            <a:pPr lvl="2">
              <a:defRPr/>
            </a:pPr>
            <a:r>
              <a:rPr lang="en-US" dirty="0"/>
              <a:t>sometimes useful for helper methods</a:t>
            </a:r>
          </a:p>
        </p:txBody>
      </p:sp>
      <p:sp>
        <p:nvSpPr>
          <p:cNvPr id="5" name="Right Brace 4"/>
          <p:cNvSpPr/>
          <p:nvPr/>
        </p:nvSpPr>
        <p:spPr>
          <a:xfrm>
            <a:off x="6918960" y="3505200"/>
            <a:ext cx="533400" cy="2501900"/>
          </a:xfrm>
          <a:prstGeom prst="righ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528560" y="3733800"/>
            <a:ext cx="1371600" cy="20574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dirty="0"/>
              <a:t>Bad for fields!</a:t>
            </a:r>
          </a:p>
        </p:txBody>
      </p:sp>
      <p:sp>
        <p:nvSpPr>
          <p:cNvPr id="8" name="Rectangle 9"/>
          <p:cNvSpPr>
            <a:spLocks/>
          </p:cNvSpPr>
          <p:nvPr/>
        </p:nvSpPr>
        <p:spPr bwMode="auto">
          <a:xfrm>
            <a:off x="8432800" y="6334564"/>
            <a:ext cx="558800" cy="4191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sz="1800">
                <a:solidFill>
                  <a:schemeClr val="bg1"/>
                </a:solidFill>
                <a:cs typeface="Arial" pitchFamily="34" charset="0"/>
                <a:sym typeface="Arial" pitchFamily="34" charset="0"/>
              </a:rPr>
              <a:t>Q7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randview">
      <a:majorFont>
        <a:latin typeface="Grandview Display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0BCAAD2E4294F9443DCB038A55380" ma:contentTypeVersion="8" ma:contentTypeDescription="Create a new document." ma:contentTypeScope="" ma:versionID="9523c79d6bab9e2ad858b5223ec5ed94">
  <xsd:schema xmlns:xsd="http://www.w3.org/2001/XMLSchema" xmlns:xs="http://www.w3.org/2001/XMLSchema" xmlns:p="http://schemas.microsoft.com/office/2006/metadata/properties" xmlns:ns2="201674f6-2bdd-4f13-ba1e-424e4aa70473" targetNamespace="http://schemas.microsoft.com/office/2006/metadata/properties" ma:root="true" ma:fieldsID="587afc94f70b507ec5be5f4d78229b0b" ns2:_="">
    <xsd:import namespace="201674f6-2bdd-4f13-ba1e-424e4aa704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1674f6-2bdd-4f13-ba1e-424e4aa704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0F9EA22-5825-4E8D-9432-59C9592C34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1674f6-2bdd-4f13-ba1e-424e4aa704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C4378FB-03E6-44FD-B96F-DE665721A1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D20C57-C3B5-47E7-874B-37927E7B786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Words>1340</Words>
  <Application>Microsoft Office PowerPoint</Application>
  <PresentationFormat>On-screen Show (4:3)</PresentationFormat>
  <Paragraphs>261</Paragraphs>
  <Slides>18</Slides>
  <Notes>18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Courier New</vt:lpstr>
      <vt:lpstr>Grandview</vt:lpstr>
      <vt:lpstr>Grandview Display</vt:lpstr>
      <vt:lpstr>Lucida Sans Typewriter</vt:lpstr>
      <vt:lpstr>Office Theme</vt:lpstr>
      <vt:lpstr>CSSE 220</vt:lpstr>
      <vt:lpstr>Inheritance</vt:lpstr>
      <vt:lpstr>Examples</vt:lpstr>
      <vt:lpstr>Notation and Terminology</vt:lpstr>
      <vt:lpstr>Inheritance in UML</vt:lpstr>
      <vt:lpstr>Look at Code</vt:lpstr>
      <vt:lpstr>Structure  View in IntelliJ</vt:lpstr>
      <vt:lpstr>Interfaces vs. Inheritance</vt:lpstr>
      <vt:lpstr>Inheritance Run Amok?</vt:lpstr>
      <vt:lpstr>For methods, subclasses can:</vt:lpstr>
      <vt:lpstr>For fields, subclasses:</vt:lpstr>
      <vt:lpstr>How Subclass calls Superclass Methods</vt:lpstr>
      <vt:lpstr>Let’s Code CheckingAccount</vt:lpstr>
      <vt:lpstr>Design then Implement</vt:lpstr>
      <vt:lpstr>Polymorphism and Subclasses</vt:lpstr>
      <vt:lpstr>Polymorphism and Subclasses</vt:lpstr>
      <vt:lpstr>Another Example</vt:lpstr>
      <vt:lpstr>Access Modifiers</vt:lpstr>
    </vt:vector>
  </TitlesOfParts>
  <Manager/>
  <Company>RHIT CSSE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CSSE Faculty</dc:creator>
  <cp:keywords/>
  <dc:description/>
  <cp:lastModifiedBy>Ludden, Ian</cp:lastModifiedBy>
  <cp:revision>51</cp:revision>
  <cp:lastPrinted>2015-01-19T18:06:47Z</cp:lastPrinted>
  <dcterms:created xsi:type="dcterms:W3CDTF">2011-01-25T15:45:15Z</dcterms:created>
  <dcterms:modified xsi:type="dcterms:W3CDTF">2026-10-04T00:12:44Z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  <property fmtid="{D5CDD505-2E9C-101B-9397-08002B2CF9AE}" pid="3" name="ContentTypeId">
    <vt:lpwstr>0x0101001570BCAAD2E4294F9443DCB038A55380</vt:lpwstr>
  </property>
</Properties>
</file>