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251" r:id="rId4"/>
  </p:sldMasterIdLst>
  <p:notesMasterIdLst>
    <p:notesMasterId r:id="rId15"/>
  </p:notesMasterIdLst>
  <p:handoutMasterIdLst>
    <p:handoutMasterId r:id="rId16"/>
  </p:handoutMasterIdLst>
  <p:sldIdLst>
    <p:sldId id="256" r:id="rId5"/>
    <p:sldId id="368" r:id="rId6"/>
    <p:sldId id="369" r:id="rId7"/>
    <p:sldId id="397" r:id="rId8"/>
    <p:sldId id="379" r:id="rId9"/>
    <p:sldId id="398" r:id="rId10"/>
    <p:sldId id="389" r:id="rId11"/>
    <p:sldId id="388" r:id="rId12"/>
    <p:sldId id="396" r:id="rId13"/>
    <p:sldId id="381" r:id="rId14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EE7D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A4166D-275D-42FB-9415-E159EBF2FD40}" v="1" dt="2023-11-20T21:44:12.7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05" autoAdjust="0"/>
    <p:restoredTop sz="71885" autoAdjust="0"/>
  </p:normalViewPr>
  <p:slideViewPr>
    <p:cSldViewPr snapToGrid="0">
      <p:cViewPr varScale="1">
        <p:scale>
          <a:sx n="79" d="100"/>
          <a:sy n="79" d="100"/>
        </p:scale>
        <p:origin x="390" y="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mmerville, Macartan" userId="S::summermt@rose-hulman.edu::7b2a0604-6c98-4445-9309-9fb015585c0d" providerId="AD" clId="Web-{06F8DD94-CAFF-48A1-A9C3-868B0C5AA276}"/>
    <pc:docChg chg="modSld">
      <pc:chgData name="Summerville, Macartan" userId="S::summermt@rose-hulman.edu::7b2a0604-6c98-4445-9309-9fb015585c0d" providerId="AD" clId="Web-{06F8DD94-CAFF-48A1-A9C3-868B0C5AA276}" dt="2021-10-12T13:32:43.738" v="1" actId="1076"/>
      <pc:docMkLst>
        <pc:docMk/>
      </pc:docMkLst>
      <pc:sldChg chg="modSp">
        <pc:chgData name="Summerville, Macartan" userId="S::summermt@rose-hulman.edu::7b2a0604-6c98-4445-9309-9fb015585c0d" providerId="AD" clId="Web-{06F8DD94-CAFF-48A1-A9C3-868B0C5AA276}" dt="2021-10-12T13:32:43.738" v="1" actId="1076"/>
        <pc:sldMkLst>
          <pc:docMk/>
          <pc:sldMk cId="2922646918" sldId="391"/>
        </pc:sldMkLst>
        <pc:picChg chg="mod">
          <ac:chgData name="Summerville, Macartan" userId="S::summermt@rose-hulman.edu::7b2a0604-6c98-4445-9309-9fb015585c0d" providerId="AD" clId="Web-{06F8DD94-CAFF-48A1-A9C3-868B0C5AA276}" dt="2021-10-12T13:32:43.738" v="1" actId="1076"/>
          <ac:picMkLst>
            <pc:docMk/>
            <pc:sldMk cId="2922646918" sldId="391"/>
            <ac:picMk id="5" creationId="{6CBCA8B7-839A-6B48-9A15-D29E72AB46FA}"/>
          </ac:picMkLst>
        </pc:picChg>
      </pc:sldChg>
    </pc:docChg>
  </pc:docChgLst>
  <pc:docChgLst>
    <pc:chgData name="Yoder, Jason" userId="28f4d4d8-da04-4f86-b14d-a21675737bc5" providerId="ADAL" clId="{26A4166D-275D-42FB-9415-E159EBF2FD40}"/>
    <pc:docChg chg="custSel addSld modSld sldOrd">
      <pc:chgData name="Yoder, Jason" userId="28f4d4d8-da04-4f86-b14d-a21675737bc5" providerId="ADAL" clId="{26A4166D-275D-42FB-9415-E159EBF2FD40}" dt="2023-11-21T17:25:21.540" v="554" actId="14100"/>
      <pc:docMkLst>
        <pc:docMk/>
      </pc:docMkLst>
      <pc:sldChg chg="modSp mod modNotesTx">
        <pc:chgData name="Yoder, Jason" userId="28f4d4d8-da04-4f86-b14d-a21675737bc5" providerId="ADAL" clId="{26A4166D-275D-42FB-9415-E159EBF2FD40}" dt="2023-11-21T17:25:21.540" v="554" actId="14100"/>
        <pc:sldMkLst>
          <pc:docMk/>
          <pc:sldMk cId="0" sldId="256"/>
        </pc:sldMkLst>
        <pc:spChg chg="mod">
          <ac:chgData name="Yoder, Jason" userId="28f4d4d8-da04-4f86-b14d-a21675737bc5" providerId="ADAL" clId="{26A4166D-275D-42FB-9415-E159EBF2FD40}" dt="2023-11-21T17:25:21.540" v="554" actId="14100"/>
          <ac:spMkLst>
            <pc:docMk/>
            <pc:sldMk cId="0" sldId="256"/>
            <ac:spMk id="5" creationId="{74C4FB13-A9C6-AE49-93D9-007B088B724C}"/>
          </ac:spMkLst>
        </pc:spChg>
      </pc:sldChg>
      <pc:sldChg chg="ord">
        <pc:chgData name="Yoder, Jason" userId="28f4d4d8-da04-4f86-b14d-a21675737bc5" providerId="ADAL" clId="{26A4166D-275D-42FB-9415-E159EBF2FD40}" dt="2023-11-20T21:49:20.219" v="521"/>
        <pc:sldMkLst>
          <pc:docMk/>
          <pc:sldMk cId="0" sldId="381"/>
        </pc:sldMkLst>
      </pc:sldChg>
      <pc:sldChg chg="addSp modSp new mod modNotesTx">
        <pc:chgData name="Yoder, Jason" userId="28f4d4d8-da04-4f86-b14d-a21675737bc5" providerId="ADAL" clId="{26A4166D-275D-42FB-9415-E159EBF2FD40}" dt="2023-11-20T21:49:09.344" v="517" actId="20577"/>
        <pc:sldMkLst>
          <pc:docMk/>
          <pc:sldMk cId="2283330882" sldId="396"/>
        </pc:sldMkLst>
        <pc:spChg chg="mod">
          <ac:chgData name="Yoder, Jason" userId="28f4d4d8-da04-4f86-b14d-a21675737bc5" providerId="ADAL" clId="{26A4166D-275D-42FB-9415-E159EBF2FD40}" dt="2023-11-20T21:43:13.322" v="131" actId="20577"/>
          <ac:spMkLst>
            <pc:docMk/>
            <pc:sldMk cId="2283330882" sldId="396"/>
            <ac:spMk id="2" creationId="{0FE5D7D7-B2C6-CA92-C52A-C39677C41C69}"/>
          </ac:spMkLst>
        </pc:spChg>
        <pc:spChg chg="mod">
          <ac:chgData name="Yoder, Jason" userId="28f4d4d8-da04-4f86-b14d-a21675737bc5" providerId="ADAL" clId="{26A4166D-275D-42FB-9415-E159EBF2FD40}" dt="2023-11-20T21:48:43.476" v="458" actId="14100"/>
          <ac:spMkLst>
            <pc:docMk/>
            <pc:sldMk cId="2283330882" sldId="396"/>
            <ac:spMk id="3" creationId="{59607EB5-0DCE-F85D-2869-0FE09B932F1B}"/>
          </ac:spMkLst>
        </pc:spChg>
        <pc:picChg chg="add mod">
          <ac:chgData name="Yoder, Jason" userId="28f4d4d8-da04-4f86-b14d-a21675737bc5" providerId="ADAL" clId="{26A4166D-275D-42FB-9415-E159EBF2FD40}" dt="2023-11-20T21:48:48.353" v="462" actId="1076"/>
          <ac:picMkLst>
            <pc:docMk/>
            <pc:sldMk cId="2283330882" sldId="396"/>
            <ac:picMk id="5" creationId="{0BD5A0DF-4E2C-82EC-5E5E-62D988B31CB7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t" anchorCtr="0" compatLnSpc="1">
            <a:prstTxWarp prst="textNoShape">
              <a:avLst/>
            </a:prstTxWarp>
          </a:bodyPr>
          <a:lstStyle>
            <a:lvl1pPr defTabSz="913525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 bwMode="auto">
          <a:xfrm>
            <a:off x="3972256" y="0"/>
            <a:ext cx="3036623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t" anchorCtr="0" compatLnSpc="1">
            <a:prstTxWarp prst="textNoShape">
              <a:avLst/>
            </a:prstTxWarp>
          </a:bodyPr>
          <a:lstStyle>
            <a:lvl1pPr algn="r" defTabSz="913525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D184755D-2083-4E78-A15A-12BCB3E43BAF}" type="datetimeFigureOut">
              <a:rPr lang="en-US"/>
              <a:pPr>
                <a:defRPr/>
              </a:pPr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 bwMode="auto">
          <a:xfrm>
            <a:off x="0" y="8829121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b" anchorCtr="0" compatLnSpc="1">
            <a:prstTxWarp prst="textNoShape">
              <a:avLst/>
            </a:prstTxWarp>
          </a:bodyPr>
          <a:lstStyle>
            <a:lvl1pPr defTabSz="913525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972256" y="8829121"/>
            <a:ext cx="3036623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b" anchorCtr="0" compatLnSpc="1">
            <a:prstTxWarp prst="textNoShape">
              <a:avLst/>
            </a:prstTxWarp>
          </a:bodyPr>
          <a:lstStyle>
            <a:lvl1pPr algn="r" defTabSz="913525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466E5494-E446-4433-8013-DBDE64CEADA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4900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t" anchorCtr="0" compatLnSpc="1">
            <a:prstTxWarp prst="textNoShape">
              <a:avLst/>
            </a:prstTxWarp>
          </a:bodyPr>
          <a:lstStyle>
            <a:lvl1pPr defTabSz="913525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970734" y="0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t" anchorCtr="0" compatLnSpc="1">
            <a:prstTxWarp prst="textNoShape">
              <a:avLst/>
            </a:prstTxWarp>
          </a:bodyPr>
          <a:lstStyle>
            <a:lvl1pPr algn="r" defTabSz="913525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975D8C37-1815-4FAF-9DC3-E6CC2A524965}" type="datetimeFigureOut">
              <a:rPr lang="en-US"/>
              <a:pPr>
                <a:defRPr/>
              </a:pPr>
              <a:t>10/3/2026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8500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9808" tIns="44904" rIns="89808" bIns="4490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701345" y="4416098"/>
            <a:ext cx="5607711" cy="4183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829121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b" anchorCtr="0" compatLnSpc="1">
            <a:prstTxWarp prst="textNoShape">
              <a:avLst/>
            </a:prstTxWarp>
          </a:bodyPr>
          <a:lstStyle>
            <a:lvl1pPr defTabSz="913525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970734" y="8829121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b" anchorCtr="0" compatLnSpc="1">
            <a:prstTxWarp prst="textNoShape">
              <a:avLst/>
            </a:prstTxWarp>
          </a:bodyPr>
          <a:lstStyle>
            <a:lvl1pPr algn="r" defTabSz="913525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3A187583-0EC9-4694-9EAD-0DA64A27677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3042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en-US" dirty="0"/>
              <a:t>Bring hard copy of </a:t>
            </a:r>
            <a:r>
              <a:rPr lang="en-US" dirty="0" err="1"/>
              <a:t>ChessPiece</a:t>
            </a:r>
            <a:r>
              <a:rPr lang="en-US" dirty="0"/>
              <a:t>, King, Queen, etc.</a:t>
            </a:r>
          </a:p>
        </p:txBody>
      </p:sp>
      <p:sp>
        <p:nvSpPr>
          <p:cNvPr id="26628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C957318-F2D6-4424-86CA-EC3D1642FA8E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9709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28676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49247D9-907D-412C-BCC1-5896E9FEDD18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6551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/>
              <a:t>- animated bullets</a:t>
            </a:r>
          </a:p>
        </p:txBody>
      </p:sp>
      <p:sp>
        <p:nvSpPr>
          <p:cNvPr id="2970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81ABF6A-382B-4F4B-90A1-319474DFB21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303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should this generic “shape” be represented? There’s no reasonable default “shape”.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0856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The main reason for using Abstract classes is to force programmers to create</a:t>
            </a:r>
            <a:r>
              <a:rPr lang="en-US" baseline="0"/>
              <a:t> subclasses. Declaring certain methods abstract prevents you from coming up with useless default methods that others might inherit by accident.</a:t>
            </a:r>
          </a:p>
          <a:p>
            <a:endParaRPr lang="en-US" baseline="0"/>
          </a:p>
          <a:p>
            <a:r>
              <a:rPr lang="en-US" baseline="0"/>
              <a:t>This also allows code reuse when only a few methods of an interface differ in implementation. </a:t>
            </a:r>
          </a:p>
          <a:p>
            <a:endParaRPr lang="en-US" baseline="0"/>
          </a:p>
          <a:p>
            <a:r>
              <a:rPr lang="en-US" sz="1200" baseline="0"/>
              <a:t>Make the </a:t>
            </a:r>
            <a:r>
              <a:rPr lang="en-US" sz="1200" baseline="0" err="1"/>
              <a:t>ChessPiece</a:t>
            </a:r>
            <a:r>
              <a:rPr lang="en-US" sz="1200" baseline="0"/>
              <a:t> abstract, and pull the items that don’t change into the new abstract class, and leave the other methods abstract (see solution code). Walk students through this refactor for King/Queen, then have them implement the other pieces. Remind them that the Pawn is actually the hardest, and to do </a:t>
            </a:r>
            <a:r>
              <a:rPr lang="en-US" baseline="0"/>
              <a:t>that LAST. </a:t>
            </a:r>
          </a:p>
          <a:p>
            <a:endParaRPr lang="en-US"/>
          </a:p>
          <a:p>
            <a:endParaRPr lang="en-US" baseline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102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UML in </a:t>
            </a:r>
            <a:r>
              <a:rPr lang="en-US" dirty="0" err="1"/>
              <a:t>src</a:t>
            </a:r>
            <a:r>
              <a:rPr lang="en-US" dirty="0"/>
              <a:t>/shapes/</a:t>
            </a:r>
            <a:r>
              <a:rPr lang="en-US" dirty="0" err="1"/>
              <a:t>ShapeDesign.puml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879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 dirty="0"/>
              <a:t>Walk through the Chess example in Inheritance project. Start by showing the King and </a:t>
            </a:r>
            <a:r>
              <a:rPr lang="en-US" baseline="0" dirty="0" err="1"/>
              <a:t>ChessPiece</a:t>
            </a:r>
            <a:r>
              <a:rPr lang="en-US" baseline="0" dirty="0"/>
              <a:t> interface. Implement the queen, and note to the students how we end up copying a lot of code from the King into the Queen, there has to be a better way…</a:t>
            </a:r>
          </a:p>
          <a:p>
            <a:endParaRPr lang="en-US" baseline="0" dirty="0"/>
          </a:p>
          <a:p>
            <a:r>
              <a:rPr lang="en-US" baseline="0" dirty="0"/>
              <a:t>It works well to just make the </a:t>
            </a:r>
            <a:r>
              <a:rPr lang="en-US" baseline="0" dirty="0" err="1"/>
              <a:t>ChessPiece</a:t>
            </a:r>
            <a:r>
              <a:rPr lang="en-US" baseline="0" dirty="0"/>
              <a:t> a class first and put in a </a:t>
            </a:r>
            <a:r>
              <a:rPr lang="en-US" baseline="0" dirty="0" err="1"/>
              <a:t>System.err.println</a:t>
            </a:r>
            <a:r>
              <a:rPr lang="en-US" baseline="0" dirty="0"/>
              <a:t>(“Implement this method!”) then show them if we forget to implement a method (Queen’s </a:t>
            </a:r>
            <a:r>
              <a:rPr lang="en-US" baseline="0" dirty="0" err="1"/>
              <a:t>checkMove</a:t>
            </a:r>
            <a:r>
              <a:rPr lang="en-US" baseline="0" dirty="0"/>
              <a:t>) we see that message at runtime.</a:t>
            </a:r>
          </a:p>
          <a:p>
            <a:endParaRPr lang="en-US" baseline="0" dirty="0"/>
          </a:p>
          <a:p>
            <a:r>
              <a:rPr lang="en-US" sz="1400" baseline="0" dirty="0"/>
              <a:t>At this point, they should see the justification for an abstract class, show that on next slide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948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Emphasize</a:t>
            </a:r>
            <a:r>
              <a:rPr lang="en-US" sz="12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doing Pawn last it requires several things (</a:t>
            </a:r>
            <a:r>
              <a:rPr lang="en-US" sz="1200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hasMoved</a:t>
            </a:r>
            <a:r>
              <a:rPr lang="en-US" sz="12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field) and needs to override the </a:t>
            </a:r>
            <a:r>
              <a:rPr lang="en-US" sz="1200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checkAttack</a:t>
            </a:r>
            <a:r>
              <a:rPr lang="en-US" sz="12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method which is not obvious without looking at more code than they usually have to look at for the rest of the classes.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@Override 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boolean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checkAttack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(int dx, int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dy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ChessPiece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piece) {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 (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this.isWhite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==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piece.isWhite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()) {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 false;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 (!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movedCorrectDirection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dy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)) {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 false;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dx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Math.abs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(dx);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Math.abs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 dx == 1 &amp;&amp;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dy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== 1;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8522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Consider showing working version of the solution in the private repo or playing part of the final functionality video:</a:t>
            </a:r>
          </a:p>
          <a:p>
            <a:endParaRPr lang="en-US" dirty="0"/>
          </a:p>
          <a:p>
            <a:r>
              <a:rPr lang="en-US" dirty="0"/>
              <a:t>https://rose-hulman.hosted.panopto.com/Panopto/Pages/Viewer.aspx?id=c6958003-1803-436a-bc65-aba6002fdeb3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496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97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D7653D9-4690-439F-9AB7-DB1A2AAA78D3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9C4F6E3-AEAB-490F-94DF-58338847954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5688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3B8731-4EFC-479C-A7C9-026151864EE8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4990282-8062-4273-9F07-599A313EBCD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101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123CBDE-6397-40B8-BCC4-2A8AF6618F34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92178AF-D2B4-4A07-ACA1-D2BF4B37B5E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804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64C111-18F6-4A24-8976-49396BFA8EF2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9419513-1C4C-4968-BA21-20417918839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285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93CD23E-6C8D-45CB-BC3E-8DD3561F842A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BE7C3EA-5B8B-4C8A-999C-888DFF1E68E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891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9B72ED1-ED88-4B41-A8C3-B18B662B8B90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2532257-2EEB-4A36-B5C4-9C4A7F1C50D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206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DD68C66-E7B6-4C99-A1F9-9976E1949B1A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E6F40FA-9170-44FD-AFAC-69ADFB377AB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882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D3E2C5D-F413-4AEC-A4BC-39DF47ABD9FD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D526979-BFCF-4BF5-B677-EA86DE1B42A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126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53A144D-5F63-4A2D-9E44-D40037CB6000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62EF4B-3459-4A1A-A9F2-72414015F72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812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FA18366-BF24-4613-8FED-CA818E6D4477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03D57-373B-4F0D-B05A-B8082F91568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73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BA47346-F063-481E-A86A-41BD06C43298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DFC9157-32CE-4916-8093-BFDE56DFB0D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571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7E089E1-7597-4F62-8647-1221879FBF32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87B04DC7-7A80-4E55-ADE6-967D940C8C3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523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52" r:id="rId1"/>
    <p:sldLayoutId id="2147484253" r:id="rId2"/>
    <p:sldLayoutId id="2147484254" r:id="rId3"/>
    <p:sldLayoutId id="2147484255" r:id="rId4"/>
    <p:sldLayoutId id="2147484256" r:id="rId5"/>
    <p:sldLayoutId id="2147484257" r:id="rId6"/>
    <p:sldLayoutId id="2147484258" r:id="rId7"/>
    <p:sldLayoutId id="2147484259" r:id="rId8"/>
    <p:sldLayoutId id="2147484260" r:id="rId9"/>
    <p:sldLayoutId id="2147484261" r:id="rId10"/>
    <p:sldLayoutId id="2147484262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Chess#Movemen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/>
              <a:t>CSSE 220</a:t>
            </a:r>
          </a:p>
        </p:txBody>
      </p:sp>
      <p:sp>
        <p:nvSpPr>
          <p:cNvPr id="9219" name="Rectang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R="0" eaLnBrk="1" hangingPunct="1">
              <a:lnSpc>
                <a:spcPct val="90000"/>
              </a:lnSpc>
            </a:pPr>
            <a:r>
              <a:rPr lang="en-US" sz="2500" dirty="0"/>
              <a:t>Inheritance: Abstract Classes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C4FB13-A9C6-AE49-93D9-007B088B724C}"/>
              </a:ext>
            </a:extLst>
          </p:cNvPr>
          <p:cNvSpPr/>
          <p:nvPr/>
        </p:nvSpPr>
        <p:spPr>
          <a:xfrm>
            <a:off x="304800" y="4559481"/>
            <a:ext cx="8534400" cy="2184219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rgbClr val="FFFFFF"/>
                </a:solidFill>
              </a:rPr>
              <a:t>The </a:t>
            </a:r>
            <a:r>
              <a:rPr lang="en-US" sz="2400" i="1" dirty="0">
                <a:solidFill>
                  <a:srgbClr val="FFFFFF"/>
                </a:solidFill>
              </a:rPr>
              <a:t>git</a:t>
            </a:r>
            <a:r>
              <a:rPr lang="en-US" sz="2400" dirty="0">
                <a:solidFill>
                  <a:srgbClr val="FFFFFF"/>
                </a:solidFill>
              </a:rPr>
              <a:t> projects for today are: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PracticeAbstractClasses</a:t>
            </a:r>
            <a:endParaRPr lang="en-US" sz="2400" i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PracticeSolutionAbstractClasses</a:t>
            </a:r>
            <a:endParaRPr lang="en-US" sz="2400" i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Recall: Inheritance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04800" y="1481138"/>
            <a:ext cx="8686800" cy="4525962"/>
          </a:xfrm>
        </p:spPr>
        <p:txBody>
          <a:bodyPr>
            <a:normAutofit fontScale="92500"/>
          </a:bodyPr>
          <a:lstStyle/>
          <a:p>
            <a:pPr>
              <a:defRPr/>
            </a:pPr>
            <a:r>
              <a:rPr lang="en-US" sz="2800" dirty="0"/>
              <a:t>Sometimes a new class is </a:t>
            </a:r>
            <a:r>
              <a:rPr lang="en-US" sz="2800" b="1" dirty="0">
                <a:solidFill>
                  <a:schemeClr val="accent3"/>
                </a:solidFill>
              </a:rPr>
              <a:t>a special case </a:t>
            </a:r>
            <a:r>
              <a:rPr lang="en-US" sz="2800" dirty="0"/>
              <a:t>of the concept represented by another already existing class</a:t>
            </a:r>
          </a:p>
          <a:p>
            <a:pPr>
              <a:defRPr/>
            </a:pPr>
            <a:endParaRPr lang="en-US" sz="2800" dirty="0"/>
          </a:p>
          <a:p>
            <a:pPr>
              <a:defRPr/>
            </a:pPr>
            <a:r>
              <a:rPr lang="en-US" sz="2800" dirty="0"/>
              <a:t>New class can “inherit” from an existing class, and new class can have new/different functionality</a:t>
            </a:r>
          </a:p>
          <a:p>
            <a:pPr lvl="1">
              <a:defRPr/>
            </a:pPr>
            <a:r>
              <a:rPr lang="en-US" sz="2400" dirty="0"/>
              <a:t>How should </a:t>
            </a:r>
            <a:r>
              <a:rPr lang="en-US" sz="2400" b="1" i="1" dirty="0"/>
              <a:t>this type </a:t>
            </a:r>
            <a:r>
              <a:rPr lang="en-US" sz="2400" dirty="0"/>
              <a:t>of [general type] do this behavior?</a:t>
            </a:r>
          </a:p>
          <a:p>
            <a:pPr>
              <a:defRPr/>
            </a:pPr>
            <a:endParaRPr lang="en-US" sz="2800" dirty="0"/>
          </a:p>
          <a:p>
            <a:pPr>
              <a:defRPr/>
            </a:pPr>
            <a:r>
              <a:rPr lang="en-US" sz="2800" dirty="0"/>
              <a:t>The new class </a:t>
            </a:r>
            <a:r>
              <a:rPr lang="en-US" sz="2800" b="1" dirty="0">
                <a:solidFill>
                  <a:schemeClr val="accent3"/>
                </a:solidFill>
              </a:rPr>
              <a:t>inherits</a:t>
            </a:r>
            <a:r>
              <a:rPr lang="en-US" sz="2800" dirty="0"/>
              <a:t> from the existing one:</a:t>
            </a:r>
          </a:p>
          <a:p>
            <a:pPr lvl="1">
              <a:defRPr/>
            </a:pPr>
            <a:r>
              <a:rPr lang="en-US" sz="2400" dirty="0"/>
              <a:t>all methods</a:t>
            </a:r>
          </a:p>
          <a:p>
            <a:pPr lvl="1">
              <a:defRPr/>
            </a:pPr>
            <a:r>
              <a:rPr lang="en-US" sz="2400" dirty="0"/>
              <a:t>all instance fields</a:t>
            </a:r>
          </a:p>
        </p:txBody>
      </p:sp>
      <p:sp>
        <p:nvSpPr>
          <p:cNvPr id="7" name="Rectangle 9"/>
          <p:cNvSpPr>
            <a:spLocks/>
          </p:cNvSpPr>
          <p:nvPr/>
        </p:nvSpPr>
        <p:spPr bwMode="auto">
          <a:xfrm>
            <a:off x="8432800" y="6334564"/>
            <a:ext cx="558800" cy="4191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sz="1800">
                <a:solidFill>
                  <a:schemeClr val="bg1"/>
                </a:solidFill>
                <a:cs typeface="Arial" pitchFamily="34" charset="0"/>
                <a:sym typeface="Arial" pitchFamily="34" charset="0"/>
              </a:rPr>
              <a:t>Q1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Examples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US" sz="2400" b="1" dirty="0">
                <a:latin typeface="Lucida Sans Typewriter" pitchFamily="49" charset="0"/>
              </a:rPr>
              <a:t>class </a:t>
            </a:r>
            <a:r>
              <a:rPr lang="en-US" sz="2400" b="1" dirty="0" err="1">
                <a:latin typeface="Lucida Sans Typewriter" pitchFamily="49" charset="0"/>
              </a:rPr>
              <a:t>SavingsAccount</a:t>
            </a:r>
            <a:r>
              <a:rPr lang="en-US" sz="2400" b="1" dirty="0">
                <a:latin typeface="Lucida Sans Typewriter" pitchFamily="49" charset="0"/>
              </a:rPr>
              <a:t> extends </a:t>
            </a:r>
            <a:r>
              <a:rPr lang="en-US" sz="2400" b="1" dirty="0" err="1">
                <a:latin typeface="Lucida Sans Typewriter" pitchFamily="49" charset="0"/>
              </a:rPr>
              <a:t>BankAccount</a:t>
            </a:r>
            <a:endParaRPr lang="en-US" sz="2400" b="1" dirty="0">
              <a:latin typeface="Lucida Sans Typewriter" pitchFamily="49" charset="0"/>
            </a:endParaRPr>
          </a:p>
          <a:p>
            <a:pPr lvl="1">
              <a:defRPr/>
            </a:pPr>
            <a:r>
              <a:rPr lang="en-US" dirty="0" err="1"/>
              <a:t>SavingsAccount</a:t>
            </a:r>
            <a:r>
              <a:rPr lang="en-US" dirty="0"/>
              <a:t> adds interest earning, keeps other traits</a:t>
            </a:r>
          </a:p>
          <a:p>
            <a:pPr lvl="1">
              <a:defRPr/>
            </a:pPr>
            <a:endParaRPr lang="en-US" dirty="0"/>
          </a:p>
          <a:p>
            <a:pPr>
              <a:defRPr/>
            </a:pPr>
            <a:r>
              <a:rPr lang="en-US" sz="2400" b="1" dirty="0">
                <a:latin typeface="Lucida Sans Typewriter" pitchFamily="49" charset="0"/>
              </a:rPr>
              <a:t>class Employee extends Person</a:t>
            </a:r>
          </a:p>
          <a:p>
            <a:pPr lvl="1">
              <a:defRPr/>
            </a:pPr>
            <a:r>
              <a:rPr lang="en-US" dirty="0"/>
              <a:t>Employee adds pay information and methods, keeps other traits</a:t>
            </a:r>
          </a:p>
          <a:p>
            <a:pPr lvl="1">
              <a:defRPr/>
            </a:pPr>
            <a:endParaRPr lang="en-US" dirty="0"/>
          </a:p>
          <a:p>
            <a:pPr>
              <a:defRPr/>
            </a:pPr>
            <a:r>
              <a:rPr lang="en-US" sz="2400" b="1" dirty="0">
                <a:latin typeface="Lucida Sans Typewriter" pitchFamily="49" charset="0"/>
              </a:rPr>
              <a:t>class Manager extends Employee</a:t>
            </a:r>
          </a:p>
          <a:p>
            <a:pPr lvl="1">
              <a:defRPr/>
            </a:pPr>
            <a:r>
              <a:rPr lang="en-US" dirty="0"/>
              <a:t>Manager adds information about employees managed, changes the pay mechanism, keeps other traits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2F2C8-8FF1-6E24-76DA-B4686D0B6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2102802"/>
          </a:xfrm>
        </p:spPr>
        <p:txBody>
          <a:bodyPr>
            <a:normAutofit fontScale="90000"/>
          </a:bodyPr>
          <a:lstStyle/>
          <a:p>
            <a:r>
              <a:rPr lang="en-US" dirty="0"/>
              <a:t>What if we want to use inheritance, but the superclass is so general we don’t want to instantiate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03BBA-F283-F0C9-3E30-8CE9FA6950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734215"/>
            <a:ext cx="8229600" cy="3492691"/>
          </a:xfrm>
        </p:spPr>
        <p:txBody>
          <a:bodyPr>
            <a:normAutofit fontScale="92500"/>
          </a:bodyPr>
          <a:lstStyle/>
          <a:p>
            <a:r>
              <a:rPr lang="en-US" dirty="0"/>
              <a:t>Example: </a:t>
            </a:r>
            <a:r>
              <a:rPr lang="en-US" i="1" dirty="0"/>
              <a:t>Shape</a:t>
            </a:r>
            <a:r>
              <a:rPr lang="en-US" dirty="0"/>
              <a:t> superclass with </a:t>
            </a:r>
            <a:r>
              <a:rPr lang="en-US" i="1" dirty="0"/>
              <a:t>Circle, Rectangle, Triangle</a:t>
            </a:r>
            <a:r>
              <a:rPr lang="en-US" dirty="0"/>
              <a:t> subclasses</a:t>
            </a:r>
          </a:p>
          <a:p>
            <a:r>
              <a:rPr lang="en-US" dirty="0"/>
              <a:t>What would this code mean?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</a:rPr>
              <a:t>Shape </a:t>
            </a:r>
            <a:r>
              <a:rPr lang="en-US" dirty="0" err="1">
                <a:latin typeface="Consolas" panose="020B0609020204030204" pitchFamily="49" charset="0"/>
              </a:rPr>
              <a:t>shape</a:t>
            </a:r>
            <a:r>
              <a:rPr lang="en-US" dirty="0">
                <a:latin typeface="Consolas" panose="020B0609020204030204" pitchFamily="49" charset="0"/>
              </a:rPr>
              <a:t> = new Shape();</a:t>
            </a:r>
          </a:p>
          <a:p>
            <a:r>
              <a:rPr lang="en-US" dirty="0"/>
              <a:t>How can we make it </a:t>
            </a:r>
            <a:r>
              <a:rPr lang="en-US" b="1" i="1" dirty="0"/>
              <a:t>impossible</a:t>
            </a:r>
            <a:r>
              <a:rPr lang="en-US" dirty="0"/>
              <a:t> to instantiate the superclass, while still getting the code reuse benefits of inheritance? </a:t>
            </a:r>
          </a:p>
        </p:txBody>
      </p:sp>
    </p:spTree>
    <p:extLst>
      <p:ext uri="{BB962C8B-B14F-4D97-AF65-F5344CB8AC3E}">
        <p14:creationId xmlns:p14="http://schemas.microsoft.com/office/powerpoint/2010/main" val="2849446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Solution: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Abstract</a:t>
            </a:r>
            <a:r>
              <a:rPr lang="en-US" dirty="0"/>
              <a:t> Classes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defRPr/>
            </a:pPr>
            <a:r>
              <a:rPr lang="en-US" dirty="0"/>
              <a:t>Hybrid of superclasses and interfaces</a:t>
            </a:r>
          </a:p>
          <a:p>
            <a:pPr lvl="1">
              <a:defRPr/>
            </a:pPr>
            <a:r>
              <a:rPr lang="en-US" dirty="0"/>
              <a:t>Like regular superclasses:</a:t>
            </a:r>
          </a:p>
          <a:p>
            <a:pPr lvl="2">
              <a:defRPr/>
            </a:pPr>
            <a:r>
              <a:rPr lang="en-US" dirty="0"/>
              <a:t>Provide shared fields</a:t>
            </a:r>
          </a:p>
          <a:p>
            <a:pPr lvl="2">
              <a:defRPr/>
            </a:pPr>
            <a:r>
              <a:rPr lang="en-US" dirty="0"/>
              <a:t>Provide implementation of some methods</a:t>
            </a:r>
          </a:p>
          <a:p>
            <a:pPr lvl="1">
              <a:defRPr/>
            </a:pPr>
            <a:r>
              <a:rPr lang="en-US" dirty="0"/>
              <a:t>Like interfaces</a:t>
            </a:r>
          </a:p>
          <a:p>
            <a:pPr lvl="2">
              <a:defRPr/>
            </a:pPr>
            <a:r>
              <a:rPr lang="en-US" dirty="0"/>
              <a:t>Just provide signatures and docs of other methods</a:t>
            </a:r>
          </a:p>
          <a:p>
            <a:pPr lvl="2">
              <a:defRPr/>
            </a:pPr>
            <a:r>
              <a:rPr lang="en-US" dirty="0">
                <a:highlight>
                  <a:srgbClr val="FFFF00"/>
                </a:highlight>
              </a:rPr>
              <a:t>Can’t be instantiated</a:t>
            </a:r>
          </a:p>
          <a:p>
            <a:pPr>
              <a:defRPr/>
            </a:pPr>
            <a:r>
              <a:rPr lang="en-US" dirty="0"/>
              <a:t>Example:</a:t>
            </a:r>
          </a:p>
          <a:p>
            <a:pPr lvl="1">
              <a:defRPr/>
            </a:pPr>
            <a:r>
              <a:rPr lang="en-US" b="1" dirty="0">
                <a:latin typeface="Lucida Sans Typewriter" pitchFamily="49" charset="0"/>
              </a:rPr>
              <a:t>public </a:t>
            </a:r>
            <a:r>
              <a:rPr lang="en-US" b="1" dirty="0">
                <a:solidFill>
                  <a:schemeClr val="accent3"/>
                </a:solidFill>
                <a:latin typeface="Lucida Sans Typewriter" pitchFamily="49" charset="0"/>
              </a:rPr>
              <a:t>abstract</a:t>
            </a:r>
            <a:r>
              <a:rPr lang="en-US" b="1" dirty="0">
                <a:latin typeface="Lucida Sans Typewriter" pitchFamily="49" charset="0"/>
              </a:rPr>
              <a:t> class </a:t>
            </a:r>
            <a:r>
              <a:rPr lang="en-US" b="1" dirty="0" err="1">
                <a:latin typeface="Lucida Sans Typewriter" pitchFamily="49" charset="0"/>
              </a:rPr>
              <a:t>BankAccount</a:t>
            </a:r>
            <a:r>
              <a:rPr lang="en-US" b="1" dirty="0">
                <a:latin typeface="Lucida Sans Typewriter" pitchFamily="49" charset="0"/>
              </a:rPr>
              <a:t> {</a:t>
            </a:r>
            <a:br>
              <a:rPr lang="en-US" b="1" dirty="0">
                <a:latin typeface="Lucida Sans Typewriter" pitchFamily="49" charset="0"/>
              </a:rPr>
            </a:br>
            <a:r>
              <a:rPr lang="en-US" b="1" dirty="0">
                <a:latin typeface="Lucida Sans Typewriter" pitchFamily="49" charset="0"/>
              </a:rPr>
              <a:t>    /** documentation here */</a:t>
            </a:r>
            <a:br>
              <a:rPr lang="en-US" b="1" dirty="0">
                <a:latin typeface="Lucida Sans Typewriter" pitchFamily="49" charset="0"/>
              </a:rPr>
            </a:br>
            <a:r>
              <a:rPr lang="en-US" b="1" dirty="0">
                <a:latin typeface="Lucida Sans Typewriter" pitchFamily="49" charset="0"/>
              </a:rPr>
              <a:t>    public </a:t>
            </a:r>
            <a:r>
              <a:rPr lang="en-US" b="1" dirty="0">
                <a:solidFill>
                  <a:schemeClr val="accent3"/>
                </a:solidFill>
                <a:latin typeface="Lucida Sans Typewriter" pitchFamily="49" charset="0"/>
              </a:rPr>
              <a:t>abstract</a:t>
            </a:r>
            <a:r>
              <a:rPr lang="en-US" b="1" dirty="0">
                <a:latin typeface="Lucida Sans Typewriter" pitchFamily="49" charset="0"/>
              </a:rPr>
              <a:t> void </a:t>
            </a:r>
            <a:r>
              <a:rPr lang="en-US" b="1" dirty="0" err="1">
                <a:latin typeface="Lucida Sans Typewriter" pitchFamily="49" charset="0"/>
              </a:rPr>
              <a:t>deductFees</a:t>
            </a:r>
            <a:r>
              <a:rPr lang="en-US" b="1" dirty="0">
                <a:latin typeface="Lucida Sans Typewriter" pitchFamily="49" charset="0"/>
              </a:rPr>
              <a:t>()</a:t>
            </a:r>
            <a:r>
              <a:rPr lang="en-US" b="1" dirty="0">
                <a:solidFill>
                  <a:schemeClr val="accent3"/>
                </a:solidFill>
                <a:latin typeface="Lucida Sans Typewriter" pitchFamily="49" charset="0"/>
              </a:rPr>
              <a:t>;</a:t>
            </a:r>
            <a:br>
              <a:rPr lang="en-US" b="1" dirty="0">
                <a:latin typeface="Lucida Sans Typewriter" pitchFamily="49" charset="0"/>
              </a:rPr>
            </a:br>
            <a:r>
              <a:rPr lang="en-US" b="1" dirty="0">
                <a:latin typeface="Lucida Sans Typewriter" pitchFamily="49" charset="0"/>
              </a:rPr>
              <a:t>    …</a:t>
            </a:r>
            <a:br>
              <a:rPr lang="en-US" b="1" dirty="0">
                <a:latin typeface="Lucida Sans Typewriter" pitchFamily="49" charset="0"/>
              </a:rPr>
            </a:br>
            <a:r>
              <a:rPr lang="en-US" b="1" dirty="0">
                <a:latin typeface="Lucida Sans Typewriter" pitchFamily="49" charset="0"/>
              </a:rPr>
              <a:t>}</a:t>
            </a:r>
          </a:p>
        </p:txBody>
      </p:sp>
      <p:sp>
        <p:nvSpPr>
          <p:cNvPr id="4" name="Line Callout 2 3"/>
          <p:cNvSpPr/>
          <p:nvPr/>
        </p:nvSpPr>
        <p:spPr>
          <a:xfrm>
            <a:off x="3581400" y="6007100"/>
            <a:ext cx="3429000" cy="62230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51872"/>
              <a:gd name="adj6" fmla="val -4440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dirty="0"/>
              <a:t>Elided methods as before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3AD40-1CED-47F2-7A01-ECC83F616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Explore: Shapes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673F1-1B58-966A-68E9-D2B84B7BD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/>
          </a:bodyPr>
          <a:lstStyle/>
          <a:p>
            <a:r>
              <a:rPr lang="en-US" sz="2800" dirty="0"/>
              <a:t>In </a:t>
            </a:r>
            <a:r>
              <a:rPr lang="en-US" sz="2800" i="1" dirty="0" err="1"/>
              <a:t>PracticeAbstractClasses</a:t>
            </a:r>
            <a:r>
              <a:rPr lang="en-US" sz="2800" dirty="0"/>
              <a:t>, explore </a:t>
            </a:r>
            <a:r>
              <a:rPr lang="en-US" sz="2800" i="1" dirty="0"/>
              <a:t>shapes</a:t>
            </a:r>
            <a:r>
              <a:rPr lang="en-US" sz="2800" dirty="0"/>
              <a:t> pkg</a:t>
            </a:r>
          </a:p>
          <a:p>
            <a:r>
              <a:rPr lang="en-US" sz="2800" dirty="0"/>
              <a:t>What’s same/diff.: </a:t>
            </a:r>
            <a:r>
              <a:rPr lang="en-US" sz="2800" dirty="0" err="1"/>
              <a:t>AbstractShape</a:t>
            </a:r>
            <a:r>
              <a:rPr lang="en-US" sz="2800" dirty="0"/>
              <a:t> vs. Shape?</a:t>
            </a:r>
          </a:p>
          <a:p>
            <a:r>
              <a:rPr lang="en-US" sz="2800" dirty="0"/>
              <a:t>Why is abstract class &gt; interface here?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C718DA-CC21-6AE8-FD48-E46C512EFC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64205"/>
            <a:ext cx="9144000" cy="3648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103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Chess: Interface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Abstract Class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b="-2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Let’s look at </a:t>
            </a:r>
            <a:r>
              <a:rPr lang="en-US" dirty="0" err="1"/>
              <a:t>chessPieces</a:t>
            </a:r>
            <a:r>
              <a:rPr lang="en-US" dirty="0"/>
              <a:t>/</a:t>
            </a:r>
            <a:r>
              <a:rPr lang="en-US" dirty="0" err="1"/>
              <a:t>chessSupport</a:t>
            </a:r>
            <a:endParaRPr lang="en-US" dirty="0"/>
          </a:p>
          <a:p>
            <a:pPr marL="571500" indent="-514350">
              <a:buFont typeface="+mj-lt"/>
              <a:buAutoNum type="arabicPeriod"/>
            </a:pPr>
            <a:r>
              <a:rPr lang="en-US" dirty="0"/>
              <a:t>Sketch UML diagram (start with no fields/methods, just classes)</a:t>
            </a:r>
          </a:p>
          <a:p>
            <a:pPr marL="571500" indent="-514350">
              <a:buFont typeface="+mj-lt"/>
              <a:buAutoNum type="arabicPeriod"/>
            </a:pPr>
            <a:r>
              <a:rPr lang="en-US" dirty="0"/>
              <a:t>In </a:t>
            </a:r>
            <a:r>
              <a:rPr lang="en-US" dirty="0" err="1"/>
              <a:t>StandardBoardProvider</a:t>
            </a:r>
            <a:r>
              <a:rPr lang="en-US" dirty="0"/>
              <a:t>, uncomment King lines</a:t>
            </a:r>
          </a:p>
          <a:p>
            <a:pPr marL="571500" indent="-514350">
              <a:buFont typeface="+mj-lt"/>
              <a:buAutoNum type="arabicPeriod"/>
            </a:pPr>
            <a:r>
              <a:rPr lang="en-US" dirty="0"/>
              <a:t>Look at King and </a:t>
            </a:r>
            <a:r>
              <a:rPr lang="en-US" dirty="0" err="1"/>
              <a:t>ChessPiece</a:t>
            </a:r>
            <a:endParaRPr lang="en-US" dirty="0"/>
          </a:p>
          <a:p>
            <a:pPr marL="571500" indent="-514350">
              <a:buFont typeface="+mj-lt"/>
              <a:buAutoNum type="arabicPeriod"/>
            </a:pPr>
            <a:r>
              <a:rPr lang="en-US" dirty="0"/>
              <a:t>Why should </a:t>
            </a:r>
            <a:r>
              <a:rPr lang="en-US" dirty="0" err="1"/>
              <a:t>ChessPiece</a:t>
            </a:r>
            <a:r>
              <a:rPr lang="en-US" dirty="0"/>
              <a:t> be an abstract class instead of an interface (or a concrete superclass)? </a:t>
            </a:r>
          </a:p>
        </p:txBody>
      </p:sp>
    </p:spTree>
    <p:extLst>
      <p:ext uri="{BB962C8B-B14F-4D97-AF65-F5344CB8AC3E}">
        <p14:creationId xmlns:p14="http://schemas.microsoft.com/office/powerpoint/2010/main" val="2864090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lh3.googleusercontent.com/-nCSw8aR4ICA/TYCGy3xrZPI/AAAAAAAAABI/CG0rejrXNR8/s1600/move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984" y="304800"/>
            <a:ext cx="8354632" cy="6350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FCD885-6FE6-8186-6C5E-8F043A0EC94A}"/>
              </a:ext>
            </a:extLst>
          </p:cNvPr>
          <p:cNvSpPr txBox="1"/>
          <p:nvPr/>
        </p:nvSpPr>
        <p:spPr>
          <a:xfrm>
            <a:off x="2225040" y="3295135"/>
            <a:ext cx="5687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2"/>
                </a:solidFill>
                <a:hlinkClick r:id="rId4"/>
              </a:rPr>
              <a:t>https://en.wikipedia.org/wiki/Chess#Movement</a:t>
            </a:r>
            <a:r>
              <a:rPr lang="en-US" dirty="0">
                <a:solidFill>
                  <a:schemeClr val="tx2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74679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5D7D7-B2C6-CA92-C52A-C39677C41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Upcoming Homework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07EB5-0DCE-F85D-2869-0FE09B932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286000"/>
          </a:xfrm>
        </p:spPr>
        <p:txBody>
          <a:bodyPr/>
          <a:lstStyle/>
          <a:p>
            <a:r>
              <a:rPr lang="en-US" dirty="0" err="1"/>
              <a:t>RefactoringInheritance</a:t>
            </a:r>
            <a:endParaRPr lang="en-US" dirty="0"/>
          </a:p>
          <a:p>
            <a:pPr lvl="1"/>
            <a:r>
              <a:rPr lang="en-US" dirty="0"/>
              <a:t>Requires you to use inheritance</a:t>
            </a:r>
          </a:p>
          <a:p>
            <a:pPr lvl="1"/>
            <a:r>
              <a:rPr lang="en-US" dirty="0"/>
              <a:t>Avoid variable shadowing! </a:t>
            </a:r>
          </a:p>
          <a:p>
            <a:pPr lvl="1"/>
            <a:r>
              <a:rPr lang="en-US" dirty="0"/>
              <a:t>Read instructions carefully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D5A0DF-4E2C-82EC-5E5E-62D988B31C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47653"/>
            <a:ext cx="7071360" cy="3020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330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Work Time</a:t>
            </a:r>
          </a:p>
        </p:txBody>
      </p:sp>
      <p:sp>
        <p:nvSpPr>
          <p:cNvPr id="24579" name="Text Placeholder 4"/>
          <p:cNvSpPr>
            <a:spLocks noGrp="1"/>
          </p:cNvSpPr>
          <p:nvPr>
            <p:ph type="body" idx="1"/>
          </p:nvPr>
        </p:nvSpPr>
        <p:spPr>
          <a:xfrm>
            <a:off x="722313" y="1828801"/>
            <a:ext cx="7772400" cy="2578100"/>
          </a:xfrm>
        </p:spPr>
        <p:txBody>
          <a:bodyPr>
            <a:normAutofit/>
          </a:bodyPr>
          <a:lstStyle/>
          <a:p>
            <a:r>
              <a:rPr lang="en-US" sz="2800" dirty="0"/>
              <a:t>Chess</a:t>
            </a:r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800" dirty="0"/>
              <a:t>Ask instructor/assistants for help!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324600"/>
            <a:ext cx="800219" cy="36933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/>
              <a:t>Q8-Q9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Grandview">
      <a:majorFont>
        <a:latin typeface="Grandview Display"/>
        <a:ea typeface=""/>
        <a:cs typeface=""/>
      </a:majorFont>
      <a:minorFont>
        <a:latin typeface="Grandvie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0000"/>
                <a:satMod val="155000"/>
              </a:schemeClr>
            </a:gs>
            <a:gs pos="65000">
              <a:schemeClr val="phClr">
                <a:shade val="85000"/>
                <a:satMod val="155000"/>
              </a:schemeClr>
            </a:gs>
            <a:gs pos="100000">
              <a:schemeClr val="phClr">
                <a:shade val="95000"/>
                <a:satMod val="155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algn="tl" rotWithShape="0">
              <a:srgbClr val="000000">
                <a:alpha val="64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prstMaterial="matte">
            <a:bevelT h="22225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0000"/>
                <a:satMod val="155000"/>
              </a:schemeClr>
            </a:gs>
            <a:gs pos="35000">
              <a:schemeClr val="phClr">
                <a:shade val="75000"/>
                <a:satMod val="155000"/>
              </a:schemeClr>
            </a:gs>
            <a:gs pos="100000">
              <a:schemeClr val="phClr">
                <a:tint val="80000"/>
                <a:satMod val="255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570BCAAD2E4294F9443DCB038A55380" ma:contentTypeVersion="8" ma:contentTypeDescription="Create a new document." ma:contentTypeScope="" ma:versionID="9523c79d6bab9e2ad858b5223ec5ed94">
  <xsd:schema xmlns:xsd="http://www.w3.org/2001/XMLSchema" xmlns:xs="http://www.w3.org/2001/XMLSchema" xmlns:p="http://schemas.microsoft.com/office/2006/metadata/properties" xmlns:ns2="201674f6-2bdd-4f13-ba1e-424e4aa70473" targetNamespace="http://schemas.microsoft.com/office/2006/metadata/properties" ma:root="true" ma:fieldsID="587afc94f70b507ec5be5f4d78229b0b" ns2:_="">
    <xsd:import namespace="201674f6-2bdd-4f13-ba1e-424e4aa7047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LengthInSecond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1674f6-2bdd-4f13-ba1e-424e4aa7047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2D20C57-C3B5-47E7-874B-37927E7B7865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C4378FB-03E6-44FD-B96F-DE665721A11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0F9EA22-5825-4E8D-9432-59C9592C34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01674f6-2bdd-4f13-ba1e-424e4aa7047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174</TotalTime>
  <Words>813</Words>
  <Application>Microsoft Office PowerPoint</Application>
  <PresentationFormat>On-screen Show (4:3)</PresentationFormat>
  <Paragraphs>102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Calibri</vt:lpstr>
      <vt:lpstr>Cambria Math</vt:lpstr>
      <vt:lpstr>Consolas</vt:lpstr>
      <vt:lpstr>Grandview</vt:lpstr>
      <vt:lpstr>Grandview Display</vt:lpstr>
      <vt:lpstr>Lucida Sans Typewriter</vt:lpstr>
      <vt:lpstr>Office Theme</vt:lpstr>
      <vt:lpstr>CSSE 220</vt:lpstr>
      <vt:lpstr>Recall: Inheritance</vt:lpstr>
      <vt:lpstr>Examples</vt:lpstr>
      <vt:lpstr>What if we want to use inheritance, but the superclass is so general we don’t want to instantiate it?</vt:lpstr>
      <vt:lpstr>Solution: Abstract Classes</vt:lpstr>
      <vt:lpstr>Explore: Shapes Demo</vt:lpstr>
      <vt:lpstr>Chess: Interface → Abstract Class</vt:lpstr>
      <vt:lpstr>PowerPoint Presentation</vt:lpstr>
      <vt:lpstr>Upcoming Homework</vt:lpstr>
      <vt:lpstr>Work Time</vt:lpstr>
    </vt:vector>
  </TitlesOfParts>
  <Manager/>
  <Company>RHIT CSSE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subject/>
  <dc:creator>CSSE Faculty</dc:creator>
  <cp:keywords/>
  <dc:description/>
  <cp:lastModifiedBy>Ludden, Ian</cp:lastModifiedBy>
  <cp:revision>73</cp:revision>
  <cp:lastPrinted>2015-01-19T18:06:47Z</cp:lastPrinted>
  <dcterms:created xsi:type="dcterms:W3CDTF">2011-01-25T15:45:15Z</dcterms:created>
  <dcterms:modified xsi:type="dcterms:W3CDTF">2026-10-04T00:26:05Z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TC101671231033</vt:lpwstr>
  </property>
  <property fmtid="{D5CDD505-2E9C-101B-9397-08002B2CF9AE}" pid="3" name="ContentTypeId">
    <vt:lpwstr>0x0101001570BCAAD2E4294F9443DCB038A55380</vt:lpwstr>
  </property>
</Properties>
</file>