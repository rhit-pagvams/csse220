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1" r:id="rId4"/>
  </p:sldMasterIdLst>
  <p:notesMasterIdLst>
    <p:notesMasterId r:id="rId15"/>
  </p:notesMasterIdLst>
  <p:handoutMasterIdLst>
    <p:handoutMasterId r:id="rId16"/>
  </p:handoutMasterIdLst>
  <p:sldIdLst>
    <p:sldId id="256" r:id="rId5"/>
    <p:sldId id="368" r:id="rId6"/>
    <p:sldId id="369" r:id="rId7"/>
    <p:sldId id="397" r:id="rId8"/>
    <p:sldId id="379" r:id="rId9"/>
    <p:sldId id="389" r:id="rId10"/>
    <p:sldId id="388" r:id="rId11"/>
    <p:sldId id="396" r:id="rId12"/>
    <p:sldId id="381" r:id="rId13"/>
    <p:sldId id="390" r:id="rId1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A4166D-275D-42FB-9415-E159EBF2FD40}" v="1" dt="2023-11-20T21:44:12.7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71885" autoAdjust="0"/>
  </p:normalViewPr>
  <p:slideViewPr>
    <p:cSldViewPr snapToGrid="0">
      <p:cViewPr varScale="1">
        <p:scale>
          <a:sx n="79" d="100"/>
          <a:sy n="79" d="100"/>
        </p:scale>
        <p:origin x="25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merville, Macartan" userId="S::summermt@rose-hulman.edu::7b2a0604-6c98-4445-9309-9fb015585c0d" providerId="AD" clId="Web-{06F8DD94-CAFF-48A1-A9C3-868B0C5AA276}"/>
    <pc:docChg chg="modSld">
      <pc:chgData name="Summerville, Macartan" userId="S::summermt@rose-hulman.edu::7b2a0604-6c98-4445-9309-9fb015585c0d" providerId="AD" clId="Web-{06F8DD94-CAFF-48A1-A9C3-868B0C5AA276}" dt="2021-10-12T13:32:43.738" v="1" actId="1076"/>
      <pc:docMkLst>
        <pc:docMk/>
      </pc:docMkLst>
      <pc:sldChg chg="modSp">
        <pc:chgData name="Summerville, Macartan" userId="S::summermt@rose-hulman.edu::7b2a0604-6c98-4445-9309-9fb015585c0d" providerId="AD" clId="Web-{06F8DD94-CAFF-48A1-A9C3-868B0C5AA276}" dt="2021-10-12T13:32:43.738" v="1" actId="1076"/>
        <pc:sldMkLst>
          <pc:docMk/>
          <pc:sldMk cId="2922646918" sldId="391"/>
        </pc:sldMkLst>
        <pc:picChg chg="mod">
          <ac:chgData name="Summerville, Macartan" userId="S::summermt@rose-hulman.edu::7b2a0604-6c98-4445-9309-9fb015585c0d" providerId="AD" clId="Web-{06F8DD94-CAFF-48A1-A9C3-868B0C5AA276}" dt="2021-10-12T13:32:43.738" v="1" actId="1076"/>
          <ac:picMkLst>
            <pc:docMk/>
            <pc:sldMk cId="2922646918" sldId="391"/>
            <ac:picMk id="5" creationId="{6CBCA8B7-839A-6B48-9A15-D29E72AB46FA}"/>
          </ac:picMkLst>
        </pc:picChg>
      </pc:sldChg>
    </pc:docChg>
  </pc:docChgLst>
  <pc:docChgLst>
    <pc:chgData name="Yoder, Jason" userId="28f4d4d8-da04-4f86-b14d-a21675737bc5" providerId="ADAL" clId="{26A4166D-275D-42FB-9415-E159EBF2FD40}"/>
    <pc:docChg chg="custSel addSld modSld sldOrd">
      <pc:chgData name="Yoder, Jason" userId="28f4d4d8-da04-4f86-b14d-a21675737bc5" providerId="ADAL" clId="{26A4166D-275D-42FB-9415-E159EBF2FD40}" dt="2023-11-21T17:25:21.540" v="554" actId="14100"/>
      <pc:docMkLst>
        <pc:docMk/>
      </pc:docMkLst>
      <pc:sldChg chg="modSp mod modNotesTx">
        <pc:chgData name="Yoder, Jason" userId="28f4d4d8-da04-4f86-b14d-a21675737bc5" providerId="ADAL" clId="{26A4166D-275D-42FB-9415-E159EBF2FD40}" dt="2023-11-21T17:25:21.540" v="554" actId="14100"/>
        <pc:sldMkLst>
          <pc:docMk/>
          <pc:sldMk cId="0" sldId="256"/>
        </pc:sldMkLst>
        <pc:spChg chg="mod">
          <ac:chgData name="Yoder, Jason" userId="28f4d4d8-da04-4f86-b14d-a21675737bc5" providerId="ADAL" clId="{26A4166D-275D-42FB-9415-E159EBF2FD40}" dt="2023-11-21T17:25:21.540" v="554" actId="14100"/>
          <ac:spMkLst>
            <pc:docMk/>
            <pc:sldMk cId="0" sldId="256"/>
            <ac:spMk id="5" creationId="{74C4FB13-A9C6-AE49-93D9-007B088B724C}"/>
          </ac:spMkLst>
        </pc:spChg>
      </pc:sldChg>
      <pc:sldChg chg="ord">
        <pc:chgData name="Yoder, Jason" userId="28f4d4d8-da04-4f86-b14d-a21675737bc5" providerId="ADAL" clId="{26A4166D-275D-42FB-9415-E159EBF2FD40}" dt="2023-11-20T21:49:20.219" v="521"/>
        <pc:sldMkLst>
          <pc:docMk/>
          <pc:sldMk cId="0" sldId="381"/>
        </pc:sldMkLst>
      </pc:sldChg>
      <pc:sldChg chg="addSp modSp new mod modNotesTx">
        <pc:chgData name="Yoder, Jason" userId="28f4d4d8-da04-4f86-b14d-a21675737bc5" providerId="ADAL" clId="{26A4166D-275D-42FB-9415-E159EBF2FD40}" dt="2023-11-20T21:49:09.344" v="517" actId="20577"/>
        <pc:sldMkLst>
          <pc:docMk/>
          <pc:sldMk cId="2283330882" sldId="396"/>
        </pc:sldMkLst>
        <pc:spChg chg="mod">
          <ac:chgData name="Yoder, Jason" userId="28f4d4d8-da04-4f86-b14d-a21675737bc5" providerId="ADAL" clId="{26A4166D-275D-42FB-9415-E159EBF2FD40}" dt="2023-11-20T21:43:13.322" v="131" actId="20577"/>
          <ac:spMkLst>
            <pc:docMk/>
            <pc:sldMk cId="2283330882" sldId="396"/>
            <ac:spMk id="2" creationId="{0FE5D7D7-B2C6-CA92-C52A-C39677C41C69}"/>
          </ac:spMkLst>
        </pc:spChg>
        <pc:spChg chg="mod">
          <ac:chgData name="Yoder, Jason" userId="28f4d4d8-da04-4f86-b14d-a21675737bc5" providerId="ADAL" clId="{26A4166D-275D-42FB-9415-E159EBF2FD40}" dt="2023-11-20T21:48:43.476" v="458" actId="14100"/>
          <ac:spMkLst>
            <pc:docMk/>
            <pc:sldMk cId="2283330882" sldId="396"/>
            <ac:spMk id="3" creationId="{59607EB5-0DCE-F85D-2869-0FE09B932F1B}"/>
          </ac:spMkLst>
        </pc:spChg>
        <pc:picChg chg="add mod">
          <ac:chgData name="Yoder, Jason" userId="28f4d4d8-da04-4f86-b14d-a21675737bc5" providerId="ADAL" clId="{26A4166D-275D-42FB-9415-E159EBF2FD40}" dt="2023-11-20T21:48:48.353" v="462" actId="1076"/>
          <ac:picMkLst>
            <pc:docMk/>
            <pc:sldMk cId="2283330882" sldId="396"/>
            <ac:picMk id="5" creationId="{0BD5A0DF-4E2C-82EC-5E5E-62D988B31CB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6" y="0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D184755D-2083-4E78-A15A-12BCB3E43BAF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6" y="882912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66E5494-E446-4433-8013-DBDE64CEA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0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0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75D8C37-1815-4FAF-9DC3-E6CC2A524965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08" tIns="44904" rIns="89808" bIns="44904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098"/>
            <a:ext cx="5607711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57" tIns="46580" rIns="93157" bIns="46580" numCol="1" anchor="b" anchorCtr="0" compatLnSpc="1">
            <a:prstTxWarp prst="textNoShape">
              <a:avLst/>
            </a:prstTxWarp>
          </a:bodyPr>
          <a:lstStyle>
            <a:lvl1pPr algn="r" defTabSz="913525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A187583-0EC9-4694-9EAD-0DA64A276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0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Bring hard copy of </a:t>
            </a:r>
            <a:r>
              <a:rPr lang="en-US" dirty="0" err="1"/>
              <a:t>ChessPiece</a:t>
            </a:r>
            <a:r>
              <a:rPr lang="en-US" dirty="0"/>
              <a:t>, King, Queen, etc.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957318-F2D6-4424-86CA-EC3D1642FA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70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9247D9-907D-412C-BCC1-5896E9FEDD1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55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- animated bullets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1ABF6A-382B-4F4B-90A1-319474DFB21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30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should this generic “shape” be represented? There’s no reasonable default “shape”.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85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The main reason for using Abstract classes is to force programmers to create</a:t>
            </a:r>
            <a:r>
              <a:rPr lang="en-US" baseline="0"/>
              <a:t> subclasses. Declaring certain methods abstract prevents you from coming up with useless default methods that others might inherit by accident.</a:t>
            </a:r>
          </a:p>
          <a:p>
            <a:endParaRPr lang="en-US" baseline="0"/>
          </a:p>
          <a:p>
            <a:r>
              <a:rPr lang="en-US" baseline="0"/>
              <a:t>This also allows code reuse when only a few methods of an interface differ in implementation. </a:t>
            </a:r>
          </a:p>
          <a:p>
            <a:endParaRPr lang="en-US" baseline="0"/>
          </a:p>
          <a:p>
            <a:r>
              <a:rPr lang="en-US" sz="1200" baseline="0"/>
              <a:t>Make the </a:t>
            </a:r>
            <a:r>
              <a:rPr lang="en-US" sz="1200" baseline="0" err="1"/>
              <a:t>ChessPiece</a:t>
            </a:r>
            <a:r>
              <a:rPr lang="en-US" sz="1200" baseline="0"/>
              <a:t> abstract, and pull the items that don’t change into the new abstract class, and leave the other methods abstract (see solution code). Walk students through this refactor for King/Queen, then have them implement the other pieces. Remind them that the Pawn is actually the hardest, and to do </a:t>
            </a:r>
            <a:r>
              <a:rPr lang="en-US" baseline="0"/>
              <a:t>that LAST. </a:t>
            </a:r>
          </a:p>
          <a:p>
            <a:endParaRPr lang="en-US"/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0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Walk through the Chess example in Inheritance project. Start by showing the King and </a:t>
            </a:r>
            <a:r>
              <a:rPr lang="en-US" baseline="0" dirty="0" err="1"/>
              <a:t>ChessPiece</a:t>
            </a:r>
            <a:r>
              <a:rPr lang="en-US" baseline="0" dirty="0"/>
              <a:t> interface. Implement the queen, and note to the students how we end up copying a lot of code from the King into the Queen, there has to be a better way…</a:t>
            </a:r>
          </a:p>
          <a:p>
            <a:endParaRPr lang="en-US" baseline="0" dirty="0"/>
          </a:p>
          <a:p>
            <a:r>
              <a:rPr lang="en-US" baseline="0" dirty="0"/>
              <a:t>It works well to just make the </a:t>
            </a:r>
            <a:r>
              <a:rPr lang="en-US" baseline="0" dirty="0" err="1"/>
              <a:t>ChessPiece</a:t>
            </a:r>
            <a:r>
              <a:rPr lang="en-US" baseline="0" dirty="0"/>
              <a:t> a class first and put in a </a:t>
            </a:r>
            <a:r>
              <a:rPr lang="en-US" baseline="0" dirty="0" err="1"/>
              <a:t>System.err.println</a:t>
            </a:r>
            <a:r>
              <a:rPr lang="en-US" baseline="0" dirty="0"/>
              <a:t>(“Implement this method!”) then show them if we forget to implement a method (Queen’s </a:t>
            </a:r>
            <a:r>
              <a:rPr lang="en-US" baseline="0" dirty="0" err="1"/>
              <a:t>checkMove</a:t>
            </a:r>
            <a:r>
              <a:rPr lang="en-US" baseline="0" dirty="0"/>
              <a:t>) we see that message at runtime.</a:t>
            </a:r>
          </a:p>
          <a:p>
            <a:endParaRPr lang="en-US" baseline="0" dirty="0"/>
          </a:p>
          <a:p>
            <a:r>
              <a:rPr lang="en-US" sz="1400" baseline="0" dirty="0"/>
              <a:t>At this point, they should see the justification for an abstract class, show that on next slide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4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Emphasize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doing Pawn last it requires several things (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hasMoved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field) and needs to override the </a:t>
            </a:r>
            <a:r>
              <a:rPr lang="en-US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checkAttack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method which is not obvious without looking at more code than they usually have to look at for the rest of the classes.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@Override 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boolean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checkAttack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 dx, int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ChessPiece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piece)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this.isWhite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==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piece.isWhite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false;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(!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movedCorrectDirection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 {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false;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dx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Math.abs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(dx);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Math.abs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dx == 1 &amp;&amp;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dy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== 1;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52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showing working version of the solution in the private repo or playing part of the final functionality video:</a:t>
            </a:r>
          </a:p>
          <a:p>
            <a:endParaRPr lang="en-US" dirty="0"/>
          </a:p>
          <a:p>
            <a:r>
              <a:rPr lang="en-US" dirty="0"/>
              <a:t>https://rose-hulman.hosted.panopto.com/Panopto/Pages/Viewer.aspx?id=c6958003-1803-436a-bc65-aba6002fdeb3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9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187583-0EC9-4694-9EAD-0DA64A27677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7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7653D9-4690-439F-9AB7-DB1A2AAA78D3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C4F6E3-AEAB-490F-94DF-5833884795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6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3B8731-4EFC-479C-A7C9-026151864EE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990282-8062-4273-9F07-599A313EBC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0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123CBDE-6397-40B8-BCC4-2A8AF6618F34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2178AF-D2B4-4A07-ACA1-D2BF4B37B5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64C111-18F6-4A24-8976-49396BFA8EF2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19513-1C4C-4968-BA21-20417918839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85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3CD23E-6C8D-45CB-BC3E-8DD3561F842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E7C3EA-5B8B-4C8A-999C-888DFF1E68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72ED1-ED88-4B41-A8C3-B18B662B8B90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532257-2EEB-4A36-B5C4-9C4A7F1C50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20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D68C66-E7B6-4C99-A1F9-9976E1949B1A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6F40FA-9170-44FD-AFAC-69ADFB377A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8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E2C5D-F413-4AEC-A4BC-39DF47ABD9FD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526979-BFCF-4BF5-B677-EA86DE1B42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2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3A144D-5F63-4A2D-9E44-D40037CB6000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62EF4B-3459-4A1A-A9F2-72414015F7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12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A18366-BF24-4613-8FED-CA818E6D4477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03D57-373B-4F0D-B05A-B8082F9156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7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47346-F063-481E-A86A-41BD06C43298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C9157-32CE-4916-8093-BFDE56DFB0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7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7E089E1-7597-4F62-8647-1221879FBF32}" type="datetime2">
              <a:rPr lang="en-US" smtClean="0"/>
              <a:pPr>
                <a:defRPr/>
              </a:pPr>
              <a:t>Saturday, October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B04DC7-7A80-4E55-ADE6-967D940C8C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2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hess#Movemen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plantuml.com/plantuml/img/TLBBJiCm4BpxArOzfQZq0r0L5H0I721IEN1sugLTOQyhsob2mByJv-MKm2N9pkniFBFU-Y1Tg8qM_etuA9qquCE7nkRfg6ePKMdfFTnW2CJxHqdyAG0EafN6MsjCyv5LtNi9Lt2of4R-dlQ7HfYL6AwDhJdCEfvgKw8xwra13s31Cq6XrDq9EIgiKeMBnGh-_y7EQfr5zBbnn7lnBSJ42gpNEQIHCseytepfhPtXbpaiBXOnAY7IqARzAs_1SLg2-Z494EA10xfNMM6iOREXeSxpc3mez9MZOo3BsNBqrH3aNuXtw6iT8b5Qgr5oPDw9ktWYhcnTQen1T9jD9st7JmA6FnDEoj5FAqohd2vmeeI9jFVT2eTRygjpYwpY1Vm1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://www.plantuml.com/plantuml/img/bP0n3i8m34Ltdo9YIX5S0HKG8rHYOGwD1H69Wn87X2hkJafRwC324dyxzlENuyNGLGNbHEI7nVm6KtDo5g2ChC9RrbR5A5R8REYqLOP40tKA0Octdl01PqNQujexbuMikrZqvRstLWx9BhaZXeoIH-Ibyubu9cWeLZJqLLflRaXjezUw2cqo4v-P0fxGs_eGiwaH2DIx4Kmy6DfZJ9Pbo4uwMS3TK8UI8zPtQvC7U_aVQNob-K9CffEHmr-_tvrG8kdstYy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Inheritance: Abstract Classes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4FB13-A9C6-AE49-93D9-007B088B724C}"/>
              </a:ext>
            </a:extLst>
          </p:cNvPr>
          <p:cNvSpPr/>
          <p:nvPr/>
        </p:nvSpPr>
        <p:spPr>
          <a:xfrm>
            <a:off x="304800" y="4559481"/>
            <a:ext cx="8534400" cy="218421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i="1" dirty="0">
                <a:solidFill>
                  <a:srgbClr val="FFFFFF"/>
                </a:solidFill>
              </a:rPr>
              <a:t>git</a:t>
            </a:r>
            <a:r>
              <a:rPr lang="en-US" sz="2400" dirty="0">
                <a:solidFill>
                  <a:srgbClr val="FFFFFF"/>
                </a:solidFill>
              </a:rPr>
              <a:t> projects for today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PracticeAbstractClasses</a:t>
            </a:r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/>
              <a:t>PracticeSolutionAbstractClasses</a:t>
            </a:r>
            <a:endParaRPr lang="en-US"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Recall: Inheritance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481138"/>
            <a:ext cx="8686800" cy="4525962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sz="2800" dirty="0"/>
              <a:t>Sometimes a new class is </a:t>
            </a:r>
            <a:r>
              <a:rPr lang="en-US" sz="2800" b="1" dirty="0">
                <a:solidFill>
                  <a:schemeClr val="accent3"/>
                </a:solidFill>
              </a:rPr>
              <a:t>a special case </a:t>
            </a:r>
            <a:r>
              <a:rPr lang="en-US" sz="2800" dirty="0"/>
              <a:t>of the concept represented by another already existing class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New class can “inherit” from an existing class, and new class can have new/different functionality</a:t>
            </a:r>
          </a:p>
          <a:p>
            <a:pPr lvl="1">
              <a:defRPr/>
            </a:pPr>
            <a:r>
              <a:rPr lang="en-US" sz="2400" dirty="0"/>
              <a:t>How should </a:t>
            </a:r>
            <a:r>
              <a:rPr lang="en-US" sz="2400" b="1" i="1" dirty="0"/>
              <a:t>this type </a:t>
            </a:r>
            <a:r>
              <a:rPr lang="en-US" sz="2400" dirty="0"/>
              <a:t>of [general type] do this behavior?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The new class </a:t>
            </a:r>
            <a:r>
              <a:rPr lang="en-US" sz="2800" b="1" dirty="0">
                <a:solidFill>
                  <a:schemeClr val="accent3"/>
                </a:solidFill>
              </a:rPr>
              <a:t>inherits</a:t>
            </a:r>
            <a:r>
              <a:rPr lang="en-US" sz="2800" dirty="0"/>
              <a:t> from the existing one:</a:t>
            </a:r>
          </a:p>
          <a:p>
            <a:pPr lvl="1">
              <a:defRPr/>
            </a:pPr>
            <a:r>
              <a:rPr lang="en-US" sz="2400" dirty="0"/>
              <a:t>all methods</a:t>
            </a:r>
          </a:p>
          <a:p>
            <a:pPr lvl="1">
              <a:defRPr/>
            </a:pPr>
            <a:r>
              <a:rPr lang="en-US" sz="2400" dirty="0"/>
              <a:t>all instance fields</a:t>
            </a:r>
          </a:p>
        </p:txBody>
      </p:sp>
      <p:sp>
        <p:nvSpPr>
          <p:cNvPr id="7" name="Rectangle 9"/>
          <p:cNvSpPr>
            <a:spLocks/>
          </p:cNvSpPr>
          <p:nvPr/>
        </p:nvSpPr>
        <p:spPr bwMode="auto">
          <a:xfrm>
            <a:off x="8432800" y="6334564"/>
            <a:ext cx="558800" cy="4191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en-US" sz="1800">
                <a:solidFill>
                  <a:schemeClr val="bg1"/>
                </a:solidFill>
                <a:cs typeface="Arial" pitchFamily="34" charset="0"/>
                <a:sym typeface="Arial" pitchFamily="34" charset="0"/>
              </a:rPr>
              <a:t>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Examples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</a:t>
            </a:r>
            <a:r>
              <a:rPr lang="en-US" sz="2400" b="1" dirty="0" err="1">
                <a:latin typeface="Lucida Sans Typewriter" pitchFamily="49" charset="0"/>
              </a:rPr>
              <a:t>SavingsAccount</a:t>
            </a:r>
            <a:r>
              <a:rPr lang="en-US" sz="2400" b="1" dirty="0">
                <a:latin typeface="Lucida Sans Typewriter" pitchFamily="49" charset="0"/>
              </a:rPr>
              <a:t> extends </a:t>
            </a:r>
            <a:r>
              <a:rPr lang="en-US" sz="2400" b="1" dirty="0" err="1">
                <a:latin typeface="Lucida Sans Typewriter" pitchFamily="49" charset="0"/>
              </a:rPr>
              <a:t>BankAccount</a:t>
            </a:r>
            <a:endParaRPr lang="en-US" sz="2400" b="1" dirty="0">
              <a:latin typeface="Lucida Sans Typewriter" pitchFamily="49" charset="0"/>
            </a:endParaRPr>
          </a:p>
          <a:p>
            <a:pPr lvl="1">
              <a:defRPr/>
            </a:pPr>
            <a:r>
              <a:rPr lang="en-US" dirty="0" err="1"/>
              <a:t>SavingsAccount</a:t>
            </a:r>
            <a:r>
              <a:rPr lang="en-US" dirty="0"/>
              <a:t> adds interest earning,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Employee extends Person</a:t>
            </a:r>
          </a:p>
          <a:p>
            <a:pPr lvl="1">
              <a:defRPr/>
            </a:pPr>
            <a:r>
              <a:rPr lang="en-US" dirty="0"/>
              <a:t>Employee adds pay information and methods, keeps other traits</a:t>
            </a:r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en-US" sz="2400" b="1" dirty="0">
                <a:latin typeface="Lucida Sans Typewriter" pitchFamily="49" charset="0"/>
              </a:rPr>
              <a:t>class Manager extends Employee</a:t>
            </a:r>
          </a:p>
          <a:p>
            <a:pPr lvl="1">
              <a:defRPr/>
            </a:pPr>
            <a:r>
              <a:rPr lang="en-US" dirty="0"/>
              <a:t>Manager adds information about employees managed, changes the pay mechanism, keeps other traits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F2C8-8FF1-6E24-76DA-B4686D0B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02802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if we want to use inheritance, but the superclass is so general we don’t want to instantiate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03BBA-F283-F0C9-3E30-8CE9FA695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34215"/>
            <a:ext cx="8229600" cy="3492691"/>
          </a:xfrm>
        </p:spPr>
        <p:txBody>
          <a:bodyPr>
            <a:normAutofit fontScale="92500"/>
          </a:bodyPr>
          <a:lstStyle/>
          <a:p>
            <a:r>
              <a:rPr lang="en-US" dirty="0"/>
              <a:t>Example: </a:t>
            </a:r>
            <a:r>
              <a:rPr lang="en-US" i="1" dirty="0"/>
              <a:t>Shape</a:t>
            </a:r>
            <a:r>
              <a:rPr lang="en-US" dirty="0"/>
              <a:t> superclass with </a:t>
            </a:r>
            <a:r>
              <a:rPr lang="en-US" i="1" dirty="0"/>
              <a:t>Circle, Rectangle, Triangle</a:t>
            </a:r>
            <a:r>
              <a:rPr lang="en-US" dirty="0"/>
              <a:t> subclasses</a:t>
            </a:r>
          </a:p>
          <a:p>
            <a:r>
              <a:rPr lang="en-US" dirty="0"/>
              <a:t>What would this code mean?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Shape </a:t>
            </a:r>
            <a:r>
              <a:rPr lang="en-US" dirty="0" err="1">
                <a:latin typeface="Consolas" panose="020B0609020204030204" pitchFamily="49" charset="0"/>
              </a:rPr>
              <a:t>shape</a:t>
            </a:r>
            <a:r>
              <a:rPr lang="en-US" dirty="0">
                <a:latin typeface="Consolas" panose="020B0609020204030204" pitchFamily="49" charset="0"/>
              </a:rPr>
              <a:t> = new Shape();</a:t>
            </a:r>
          </a:p>
          <a:p>
            <a:r>
              <a:rPr lang="en-US" dirty="0"/>
              <a:t>How can we make it </a:t>
            </a:r>
            <a:r>
              <a:rPr lang="en-US" b="1" i="1" dirty="0"/>
              <a:t>impossible</a:t>
            </a:r>
            <a:r>
              <a:rPr lang="en-US" dirty="0"/>
              <a:t> to instantiate the superclass, while still getting the code reuse benefits of inheritance? </a:t>
            </a:r>
          </a:p>
        </p:txBody>
      </p:sp>
    </p:spTree>
    <p:extLst>
      <p:ext uri="{BB962C8B-B14F-4D97-AF65-F5344CB8AC3E}">
        <p14:creationId xmlns:p14="http://schemas.microsoft.com/office/powerpoint/2010/main" val="284944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Solution: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Abstract</a:t>
            </a:r>
            <a:r>
              <a:rPr lang="en-US" dirty="0"/>
              <a:t> Classes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Hybrid of superclasses and interfaces</a:t>
            </a:r>
          </a:p>
          <a:p>
            <a:pPr lvl="1">
              <a:defRPr/>
            </a:pPr>
            <a:r>
              <a:rPr lang="en-US" dirty="0"/>
              <a:t>Like regular superclasses:</a:t>
            </a:r>
          </a:p>
          <a:p>
            <a:pPr lvl="2">
              <a:defRPr/>
            </a:pPr>
            <a:r>
              <a:rPr lang="en-US" dirty="0"/>
              <a:t>Provide shared fields</a:t>
            </a:r>
          </a:p>
          <a:p>
            <a:pPr lvl="2">
              <a:defRPr/>
            </a:pPr>
            <a:r>
              <a:rPr lang="en-US" dirty="0"/>
              <a:t>Provide implementation of some methods</a:t>
            </a:r>
          </a:p>
          <a:p>
            <a:pPr lvl="1">
              <a:defRPr/>
            </a:pPr>
            <a:r>
              <a:rPr lang="en-US" dirty="0"/>
              <a:t>Like interfaces</a:t>
            </a:r>
          </a:p>
          <a:p>
            <a:pPr lvl="2">
              <a:defRPr/>
            </a:pPr>
            <a:r>
              <a:rPr lang="en-US" dirty="0"/>
              <a:t>Just provide signatures and docs of other methods</a:t>
            </a:r>
          </a:p>
          <a:p>
            <a:pPr lvl="2">
              <a:defRPr/>
            </a:pPr>
            <a:r>
              <a:rPr lang="en-US" dirty="0">
                <a:highlight>
                  <a:srgbClr val="FFFF00"/>
                </a:highlight>
              </a:rPr>
              <a:t>Can’t be instantiated</a:t>
            </a:r>
          </a:p>
          <a:p>
            <a:pPr>
              <a:defRPr/>
            </a:pPr>
            <a:r>
              <a:rPr lang="en-US" dirty="0"/>
              <a:t>Example:</a:t>
            </a:r>
          </a:p>
          <a:p>
            <a:pPr lvl="1">
              <a:defRPr/>
            </a:pPr>
            <a:r>
              <a:rPr lang="en-US" b="1" dirty="0">
                <a:latin typeface="Lucida Sans Typewriter" pitchFamily="49" charset="0"/>
              </a:rPr>
              <a:t>public 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abstract</a:t>
            </a:r>
            <a:r>
              <a:rPr lang="en-US" b="1" dirty="0">
                <a:latin typeface="Lucida Sans Typewriter" pitchFamily="49" charset="0"/>
              </a:rPr>
              <a:t> class </a:t>
            </a:r>
            <a:r>
              <a:rPr lang="en-US" b="1" dirty="0" err="1">
                <a:latin typeface="Lucida Sans Typewriter" pitchFamily="49" charset="0"/>
              </a:rPr>
              <a:t>BankAccount</a:t>
            </a:r>
            <a:r>
              <a:rPr lang="en-US" b="1" dirty="0">
                <a:latin typeface="Lucida Sans Typewriter" pitchFamily="49" charset="0"/>
              </a:rPr>
              <a:t> {</a:t>
            </a:r>
            <a:br>
              <a:rPr lang="en-US" b="1" dirty="0">
                <a:latin typeface="Lucida Sans Typewriter" pitchFamily="49" charset="0"/>
              </a:rPr>
            </a:br>
            <a:r>
              <a:rPr lang="en-US" b="1" dirty="0">
                <a:latin typeface="Lucida Sans Typewriter" pitchFamily="49" charset="0"/>
              </a:rPr>
              <a:t>    /** documentation here */</a:t>
            </a:r>
            <a:br>
              <a:rPr lang="en-US" b="1" dirty="0">
                <a:latin typeface="Lucida Sans Typewriter" pitchFamily="49" charset="0"/>
              </a:rPr>
            </a:br>
            <a:r>
              <a:rPr lang="en-US" b="1" dirty="0">
                <a:latin typeface="Lucida Sans Typewriter" pitchFamily="49" charset="0"/>
              </a:rPr>
              <a:t>    public 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abstract</a:t>
            </a:r>
            <a:r>
              <a:rPr lang="en-US" b="1" dirty="0">
                <a:latin typeface="Lucida Sans Typewriter" pitchFamily="49" charset="0"/>
              </a:rPr>
              <a:t> void </a:t>
            </a:r>
            <a:r>
              <a:rPr lang="en-US" b="1" dirty="0" err="1">
                <a:latin typeface="Lucida Sans Typewriter" pitchFamily="49" charset="0"/>
              </a:rPr>
              <a:t>deductFees</a:t>
            </a:r>
            <a:r>
              <a:rPr lang="en-US" b="1" dirty="0">
                <a:latin typeface="Lucida Sans Typewriter" pitchFamily="49" charset="0"/>
              </a:rPr>
              <a:t>()</a:t>
            </a:r>
            <a:r>
              <a:rPr lang="en-US" b="1" dirty="0">
                <a:solidFill>
                  <a:schemeClr val="accent3"/>
                </a:solidFill>
                <a:latin typeface="Lucida Sans Typewriter" pitchFamily="49" charset="0"/>
              </a:rPr>
              <a:t>;</a:t>
            </a:r>
            <a:br>
              <a:rPr lang="en-US" b="1" dirty="0">
                <a:latin typeface="Lucida Sans Typewriter" pitchFamily="49" charset="0"/>
              </a:rPr>
            </a:br>
            <a:r>
              <a:rPr lang="en-US" b="1" dirty="0">
                <a:latin typeface="Lucida Sans Typewriter" pitchFamily="49" charset="0"/>
              </a:rPr>
              <a:t>    …</a:t>
            </a:r>
            <a:br>
              <a:rPr lang="en-US" b="1" dirty="0">
                <a:latin typeface="Lucida Sans Typewriter" pitchFamily="49" charset="0"/>
              </a:rPr>
            </a:br>
            <a:r>
              <a:rPr lang="en-US" b="1" dirty="0">
                <a:latin typeface="Lucida Sans Typewriter" pitchFamily="49" charset="0"/>
              </a:rPr>
              <a:t>}</a:t>
            </a:r>
          </a:p>
        </p:txBody>
      </p:sp>
      <p:sp>
        <p:nvSpPr>
          <p:cNvPr id="4" name="Line Callout 2 3"/>
          <p:cNvSpPr/>
          <p:nvPr/>
        </p:nvSpPr>
        <p:spPr>
          <a:xfrm>
            <a:off x="3581400" y="6007100"/>
            <a:ext cx="3429000" cy="6223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1872"/>
              <a:gd name="adj6" fmla="val -4440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Elided methods as before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Chess: Interface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Abstract Class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2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Let’s look at </a:t>
            </a:r>
            <a:r>
              <a:rPr lang="en-US" dirty="0" err="1"/>
              <a:t>chessPieces</a:t>
            </a:r>
            <a:r>
              <a:rPr lang="en-US" dirty="0"/>
              <a:t>/</a:t>
            </a:r>
            <a:r>
              <a:rPr lang="en-US" dirty="0" err="1"/>
              <a:t>chessSupport</a:t>
            </a:r>
            <a:endParaRPr lang="en-US" dirty="0"/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Sketch UML diagram (start with no fields/methods, just classes)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In </a:t>
            </a:r>
            <a:r>
              <a:rPr lang="en-US" dirty="0" err="1"/>
              <a:t>StandardBoardProvider</a:t>
            </a:r>
            <a:r>
              <a:rPr lang="en-US" dirty="0"/>
              <a:t>, uncomment King lines</a:t>
            </a:r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Look at King and </a:t>
            </a:r>
            <a:r>
              <a:rPr lang="en-US" dirty="0" err="1"/>
              <a:t>ChessPiece</a:t>
            </a:r>
            <a:endParaRPr lang="en-US" dirty="0"/>
          </a:p>
          <a:p>
            <a:pPr marL="571500" indent="-514350">
              <a:buFont typeface="+mj-lt"/>
              <a:buAutoNum type="arabicPeriod"/>
            </a:pPr>
            <a:r>
              <a:rPr lang="en-US" dirty="0"/>
              <a:t>Why should </a:t>
            </a:r>
            <a:r>
              <a:rPr lang="en-US" dirty="0" err="1"/>
              <a:t>ChessPiece</a:t>
            </a:r>
            <a:r>
              <a:rPr lang="en-US" dirty="0"/>
              <a:t> be an abstract class instead of an interface (or a concrete superclass)? </a:t>
            </a:r>
          </a:p>
        </p:txBody>
      </p:sp>
    </p:spTree>
    <p:extLst>
      <p:ext uri="{BB962C8B-B14F-4D97-AF65-F5344CB8AC3E}">
        <p14:creationId xmlns:p14="http://schemas.microsoft.com/office/powerpoint/2010/main" val="286409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lh3.googleusercontent.com/-nCSw8aR4ICA/TYCGy3xrZPI/AAAAAAAAABI/CG0rejrXNR8/s1600/mo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84" y="304800"/>
            <a:ext cx="8354632" cy="635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FCD885-6FE6-8186-6C5E-8F043A0EC94A}"/>
              </a:ext>
            </a:extLst>
          </p:cNvPr>
          <p:cNvSpPr txBox="1"/>
          <p:nvPr/>
        </p:nvSpPr>
        <p:spPr>
          <a:xfrm>
            <a:off x="2225040" y="3295135"/>
            <a:ext cx="5687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/>
                </a:solidFill>
                <a:hlinkClick r:id="rId4"/>
              </a:rPr>
              <a:t>https://en.wikipedia.org/wiki/Chess#Movement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67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D7D7-B2C6-CA92-C52A-C39677C4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07EB5-0DCE-F85D-2869-0FE09B932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/>
          <a:lstStyle/>
          <a:p>
            <a:r>
              <a:rPr lang="en-US" dirty="0" err="1"/>
              <a:t>RefactoringInheritance</a:t>
            </a:r>
            <a:endParaRPr lang="en-US" dirty="0"/>
          </a:p>
          <a:p>
            <a:pPr lvl="1"/>
            <a:r>
              <a:rPr lang="en-US" dirty="0"/>
              <a:t>Requires you to use inheritance</a:t>
            </a:r>
          </a:p>
          <a:p>
            <a:pPr lvl="1"/>
            <a:r>
              <a:rPr lang="en-US" dirty="0"/>
              <a:t>Avoid variable shadowing! </a:t>
            </a:r>
          </a:p>
          <a:p>
            <a:pPr lvl="1"/>
            <a:r>
              <a:rPr lang="en-US" dirty="0"/>
              <a:t>Read instructions carefully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5A0DF-4E2C-82EC-5E5E-62D988B31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7653"/>
            <a:ext cx="7071360" cy="302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3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Work Time</a:t>
            </a:r>
          </a:p>
        </p:txBody>
      </p:sp>
      <p:sp>
        <p:nvSpPr>
          <p:cNvPr id="24579" name="Text Placeholder 4"/>
          <p:cNvSpPr>
            <a:spLocks noGrp="1"/>
          </p:cNvSpPr>
          <p:nvPr>
            <p:ph type="body" idx="1"/>
          </p:nvPr>
        </p:nvSpPr>
        <p:spPr>
          <a:xfrm>
            <a:off x="722313" y="1828801"/>
            <a:ext cx="7772400" cy="2578100"/>
          </a:xfrm>
        </p:spPr>
        <p:txBody>
          <a:bodyPr>
            <a:normAutofit/>
          </a:bodyPr>
          <a:lstStyle/>
          <a:p>
            <a:r>
              <a:rPr lang="en-US" sz="2800" dirty="0"/>
              <a:t>Chess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Ask instructor/assistants for help!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24600"/>
            <a:ext cx="800219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/>
              <a:t>Q8-Q9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time allows:</a:t>
            </a:r>
            <a:br>
              <a:rPr lang="en-US" dirty="0"/>
            </a:br>
            <a:r>
              <a:rPr lang="en-US" dirty="0"/>
              <a:t>Review of </a:t>
            </a:r>
            <a:r>
              <a:rPr lang="en-US" dirty="0" err="1"/>
              <a:t>BettingMain</a:t>
            </a:r>
            <a:r>
              <a:rPr lang="en-US"/>
              <a:t> Interface</a:t>
            </a:r>
            <a:endParaRPr lang="en-US" dirty="0"/>
          </a:p>
        </p:txBody>
      </p:sp>
      <p:pic>
        <p:nvPicPr>
          <p:cNvPr id="1026" name="Picture 2" descr="https://lh5.googleusercontent.com/vKRm2iF9VvcHXTnVzEvEgKtyjmLOG1GKyVtMwls6C8wLfYa_1LEeQMMn0_MpfL8NLdgWmCTPAFhxuroyh7Exb4ZrA3zh74kFEYp6Mp6pJW_vkdIeHTk9MGDLgZl0SDuH2Z1mM_dq">
            <a:hlinkClick r:id="rId2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850" y="3485565"/>
            <a:ext cx="5717949" cy="310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4.googleusercontent.com/CrZ2wu3ZBZ7IeFOf4RM4FLifb955gTUKWqn-YSLtSWmC-2iu7W4e62tsXt7c_o1iip9WfGekBxQuYslNMZb0U3EEZ0wNYj69PXUlK_OUjaU1mgWzLbf92gFFZg7Nv4agh0XT7cMR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1417638"/>
            <a:ext cx="5943600" cy="153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082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randview">
      <a:majorFont>
        <a:latin typeface="Grandview Display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4378FB-03E6-44FD-B96F-DE665721A1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D20C57-C3B5-47E7-874B-37927E7B78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0F9EA22-5825-4E8D-9432-59C9592C34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784</Words>
  <Application>Microsoft Office PowerPoint</Application>
  <PresentationFormat>On-screen Show (4:3)</PresentationFormat>
  <Paragraphs>97</Paragraphs>
  <Slides>10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Consolas</vt:lpstr>
      <vt:lpstr>Grandview</vt:lpstr>
      <vt:lpstr>Grandview Display</vt:lpstr>
      <vt:lpstr>Lucida Sans Typewriter</vt:lpstr>
      <vt:lpstr>Office Theme</vt:lpstr>
      <vt:lpstr>CSSE 220</vt:lpstr>
      <vt:lpstr>Recall: Inheritance</vt:lpstr>
      <vt:lpstr>Examples</vt:lpstr>
      <vt:lpstr>What if we want to use inheritance, but the superclass is so general we don’t want to instantiate it?</vt:lpstr>
      <vt:lpstr>Solution: Abstract Classes</vt:lpstr>
      <vt:lpstr>Chess: Interface → Abstract Class</vt:lpstr>
      <vt:lpstr>PowerPoint Presentation</vt:lpstr>
      <vt:lpstr>Upcoming Homework</vt:lpstr>
      <vt:lpstr>Work Time</vt:lpstr>
      <vt:lpstr>If time allows: Review of BettingMain Interface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69</cp:revision>
  <cp:lastPrinted>2015-01-19T18:06:47Z</cp:lastPrinted>
  <dcterms:created xsi:type="dcterms:W3CDTF">2011-01-25T15:45:15Z</dcterms:created>
  <dcterms:modified xsi:type="dcterms:W3CDTF">2026-10-03T21:14:41Z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0x0101001570BCAAD2E4294F9443DCB038A55380</vt:lpwstr>
  </property>
</Properties>
</file>